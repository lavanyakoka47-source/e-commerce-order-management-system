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8" r:id="rId2"/>
    <p:sldId id="259" r:id="rId3"/>
    <p:sldId id="260" r:id="rId4"/>
    <p:sldId id="261" r:id="rId5"/>
    <p:sldId id="262" r:id="rId6"/>
    <p:sldId id="263" r:id="rId7"/>
    <p:sldId id="265" r:id="rId8"/>
    <p:sldId id="264" r:id="rId9"/>
    <p:sldId id="267" r:id="rId10"/>
    <p:sldId id="270" r:id="rId11"/>
    <p:sldId id="271" r:id="rId12"/>
    <p:sldId id="272" r:id="rId13"/>
    <p:sldId id="273" r:id="rId14"/>
    <p:sldId id="281" r:id="rId15"/>
    <p:sldId id="274" r:id="rId16"/>
    <p:sldId id="275" r:id="rId17"/>
    <p:sldId id="276" r:id="rId18"/>
    <p:sldId id="277" r:id="rId19"/>
    <p:sldId id="278" r:id="rId20"/>
    <p:sldId id="279" r:id="rId21"/>
    <p:sldId id="280" r:id="rId22"/>
    <p:sldId id="282" r:id="rId23"/>
    <p:sldId id="283" r:id="rId24"/>
    <p:sldId id="284" r:id="rId25"/>
    <p:sldId id="285" r:id="rId26"/>
    <p:sldId id="286" r:id="rId27"/>
    <p:sldId id="287" r:id="rId28"/>
    <p:sldId id="288" r:id="rId29"/>
    <p:sldId id="289" r:id="rId30"/>
    <p:sldId id="290" r:id="rId31"/>
    <p:sldId id="292" r:id="rId32"/>
    <p:sldId id="293" r:id="rId33"/>
    <p:sldId id="297" r:id="rId34"/>
    <p:sldId id="295" r:id="rId35"/>
    <p:sldId id="298" r:id="rId36"/>
    <p:sldId id="291" r:id="rId37"/>
    <p:sldId id="26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3FD3C9-5069-4FA7-8533-5169D72CFA0C}"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0D59BB-76CC-46F8-BCFC-D64917217FA0}" type="slidenum">
              <a:rPr lang="en-IN" smtClean="0"/>
              <a:t>‹#›</a:t>
            </a:fld>
            <a:endParaRPr lang="en-IN"/>
          </a:p>
        </p:txBody>
      </p:sp>
    </p:spTree>
    <p:extLst>
      <p:ext uri="{BB962C8B-B14F-4D97-AF65-F5344CB8AC3E}">
        <p14:creationId xmlns:p14="http://schemas.microsoft.com/office/powerpoint/2010/main" val="12769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2886AD4-737B-43C1-B120-CCF311C531E7}" type="slidenum">
              <a:rPr lang="en-IN" smtClean="0"/>
              <a:t>1</a:t>
            </a:fld>
            <a:endParaRPr lang="en-IN"/>
          </a:p>
        </p:txBody>
      </p:sp>
    </p:spTree>
    <p:extLst>
      <p:ext uri="{BB962C8B-B14F-4D97-AF65-F5344CB8AC3E}">
        <p14:creationId xmlns:p14="http://schemas.microsoft.com/office/powerpoint/2010/main" val="2037177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0D59BB-76CC-46F8-BCFC-D64917217FA0}" type="slidenum">
              <a:rPr lang="en-IN" smtClean="0"/>
              <a:t>11</a:t>
            </a:fld>
            <a:endParaRPr lang="en-IN"/>
          </a:p>
        </p:txBody>
      </p:sp>
    </p:spTree>
    <p:extLst>
      <p:ext uri="{BB962C8B-B14F-4D97-AF65-F5344CB8AC3E}">
        <p14:creationId xmlns:p14="http://schemas.microsoft.com/office/powerpoint/2010/main" val="416050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E019-CB8D-661C-AD66-2B5FABA96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F534AD-0791-569E-0608-1D48140F77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7E2055-2C21-D0DD-B61E-09EC7DBDD901}"/>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5" name="Footer Placeholder 4">
            <a:extLst>
              <a:ext uri="{FF2B5EF4-FFF2-40B4-BE49-F238E27FC236}">
                <a16:creationId xmlns:a16="http://schemas.microsoft.com/office/drawing/2014/main" id="{90AD3183-C5F0-16A1-852E-C8F8E27906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D905D-A8D1-C01B-F8E5-D37CE2E23BA5}"/>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390258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4178F-D001-B089-AAD0-24F61F3A91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28A8B7-C253-59F1-5B5A-9544665B29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E9AD41-2B0D-00BA-FC38-ABF444EB304E}"/>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5" name="Footer Placeholder 4">
            <a:extLst>
              <a:ext uri="{FF2B5EF4-FFF2-40B4-BE49-F238E27FC236}">
                <a16:creationId xmlns:a16="http://schemas.microsoft.com/office/drawing/2014/main" id="{302E95B2-9349-E0AF-0303-FB9725799A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218FF9-080B-C088-1E71-2865F5283572}"/>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189386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EB9E6-B994-BB47-3681-55E33DE39D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D7AAF33-2664-6732-7D47-3C5BB86586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B17568-C979-6743-684C-A22542E3E36B}"/>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5" name="Footer Placeholder 4">
            <a:extLst>
              <a:ext uri="{FF2B5EF4-FFF2-40B4-BE49-F238E27FC236}">
                <a16:creationId xmlns:a16="http://schemas.microsoft.com/office/drawing/2014/main" id="{B1374765-91D5-19B1-92CC-51F69D49EA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15819E-AAAB-1771-A4F6-10364DB6EFF0}"/>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3838774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29A59-2AFD-60F4-8C93-347A50B8CE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237EE3-9BB6-5DED-6D1C-38593BA5EB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23AC73-83A7-7143-BE57-8E25073A67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9FCC6A-EFF5-89F3-F0A8-DDF817784AC5}"/>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6" name="Footer Placeholder 5">
            <a:extLst>
              <a:ext uri="{FF2B5EF4-FFF2-40B4-BE49-F238E27FC236}">
                <a16:creationId xmlns:a16="http://schemas.microsoft.com/office/drawing/2014/main" id="{9CBEC0BC-769A-DC95-362E-BE20FF414C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47F615-D334-D139-C65A-6F6CE7452723}"/>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3523059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D2626-7B6F-8C24-8BBA-77728C9207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D8021A-272C-8578-3B8F-2CAD435473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646A1-39F2-C8A1-B318-998682FBD0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4FB1D4-CE8F-DE9B-295C-C92D7AEB2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14FE54-7C33-5482-4DB4-10581B9771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A7A02B4-E07B-9050-FB34-8EC62A9CC9BC}"/>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8" name="Footer Placeholder 7">
            <a:extLst>
              <a:ext uri="{FF2B5EF4-FFF2-40B4-BE49-F238E27FC236}">
                <a16:creationId xmlns:a16="http://schemas.microsoft.com/office/drawing/2014/main" id="{83B1A8B8-6455-3F2A-32C5-6B7988C616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0CBEA6-4C5A-2AF7-4924-B2EBFD85240C}"/>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2681979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62BE9-3D81-8328-B88C-5798780017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26BCD4-E3B1-BA8C-0F70-99875DA7D49B}"/>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4" name="Footer Placeholder 3">
            <a:extLst>
              <a:ext uri="{FF2B5EF4-FFF2-40B4-BE49-F238E27FC236}">
                <a16:creationId xmlns:a16="http://schemas.microsoft.com/office/drawing/2014/main" id="{25C5E1FD-9D22-34C8-B15D-3FA1349DD9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A63291-A8A0-FDB5-3B55-F71E4DE4851E}"/>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126656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1D8128-D163-1BC6-11BE-977A1DFEB024}"/>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3" name="Footer Placeholder 2">
            <a:extLst>
              <a:ext uri="{FF2B5EF4-FFF2-40B4-BE49-F238E27FC236}">
                <a16:creationId xmlns:a16="http://schemas.microsoft.com/office/drawing/2014/main" id="{E6C6215F-8BBF-3310-1748-9217AAC251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6ADD55-FB32-982C-18F1-CE9D8B3003C4}"/>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819234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721D-D336-9EB4-C136-BF90C35C2E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AECB3B-23F2-43D3-32A5-F9D800BD01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6785FC-CB11-BB27-490D-778214952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7B0A6-0DA7-9A04-67E7-14FD708C64CF}"/>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6" name="Footer Placeholder 5">
            <a:extLst>
              <a:ext uri="{FF2B5EF4-FFF2-40B4-BE49-F238E27FC236}">
                <a16:creationId xmlns:a16="http://schemas.microsoft.com/office/drawing/2014/main" id="{565E9368-AFE8-84C8-4FB0-A6CDA36A47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55B50E-C635-A1E6-BBA9-0CA9516ADF81}"/>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2261068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38DE-10B1-4512-17AE-5AB8ED61A1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8CF2AE-E4E4-C7CA-17CE-545C5C267E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4B8FED8-28A6-C852-68AB-03C75B8A5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ED5C27-C77D-B6C3-C780-0D7D9861A6DA}"/>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6" name="Footer Placeholder 5">
            <a:extLst>
              <a:ext uri="{FF2B5EF4-FFF2-40B4-BE49-F238E27FC236}">
                <a16:creationId xmlns:a16="http://schemas.microsoft.com/office/drawing/2014/main" id="{88167B56-6208-1725-4718-6930527A7F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A28BE1-4A69-12F8-12ED-550C4D6582F0}"/>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3249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8EC75-9F02-0BE3-FFC7-ADE29C8A90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F2DF0A-0E4B-D70F-F7D6-AC6198D95C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9B36E8-464E-EC5E-084B-6911EB2FBFEB}"/>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5" name="Footer Placeholder 4">
            <a:extLst>
              <a:ext uri="{FF2B5EF4-FFF2-40B4-BE49-F238E27FC236}">
                <a16:creationId xmlns:a16="http://schemas.microsoft.com/office/drawing/2014/main" id="{E87437CD-F0D8-F3B9-E68D-00753C7E7A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979FFC-1891-801F-FD60-76AD3976FC8E}"/>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2682308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A88A7E-070D-7AF2-123E-CA7F1D1490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427D25-94D1-6A70-9F73-0DBAD3539C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DFA640-BAD6-2B86-7861-8401B01D0807}"/>
              </a:ext>
            </a:extLst>
          </p:cNvPr>
          <p:cNvSpPr>
            <a:spLocks noGrp="1"/>
          </p:cNvSpPr>
          <p:nvPr>
            <p:ph type="dt" sz="half" idx="10"/>
          </p:nvPr>
        </p:nvSpPr>
        <p:spPr/>
        <p:txBody>
          <a:bodyPr/>
          <a:lstStyle/>
          <a:p>
            <a:fld id="{B2F9EEEA-09F0-429A-8DCF-BFFBE1723C98}" type="datetimeFigureOut">
              <a:rPr lang="en-IN" smtClean="0"/>
              <a:t>06-10-2026</a:t>
            </a:fld>
            <a:endParaRPr lang="en-IN"/>
          </a:p>
        </p:txBody>
      </p:sp>
      <p:sp>
        <p:nvSpPr>
          <p:cNvPr id="5" name="Footer Placeholder 4">
            <a:extLst>
              <a:ext uri="{FF2B5EF4-FFF2-40B4-BE49-F238E27FC236}">
                <a16:creationId xmlns:a16="http://schemas.microsoft.com/office/drawing/2014/main" id="{407F6DE4-7A17-F8E3-BFF7-B4EEB206EE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6306E6-C049-1E1E-9B88-B4B5FF821697}"/>
              </a:ext>
            </a:extLst>
          </p:cNvPr>
          <p:cNvSpPr>
            <a:spLocks noGrp="1"/>
          </p:cNvSpPr>
          <p:nvPr>
            <p:ph type="sldNum" sz="quarter" idx="12"/>
          </p:nvPr>
        </p:nvSpPr>
        <p:spPr/>
        <p:txBody>
          <a:bodyPr/>
          <a:lstStyle/>
          <a:p>
            <a:fld id="{6752440F-0033-4B0B-960F-A008B9689B5A}" type="slidenum">
              <a:rPr lang="en-IN" smtClean="0"/>
              <a:t>‹#›</a:t>
            </a:fld>
            <a:endParaRPr lang="en-IN"/>
          </a:p>
        </p:txBody>
      </p:sp>
    </p:spTree>
    <p:extLst>
      <p:ext uri="{BB962C8B-B14F-4D97-AF65-F5344CB8AC3E}">
        <p14:creationId xmlns:p14="http://schemas.microsoft.com/office/powerpoint/2010/main" val="2457103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78D8A1-0DD3-C865-BB72-679FC5D245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C5E72A-6363-1FE9-665A-9880333F17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76A976-7FDF-9231-8839-8F26F41316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F9EEEA-09F0-429A-8DCF-BFFBE1723C98}" type="datetimeFigureOut">
              <a:rPr lang="en-IN" smtClean="0"/>
              <a:t>06-10-2026</a:t>
            </a:fld>
            <a:endParaRPr lang="en-IN"/>
          </a:p>
        </p:txBody>
      </p:sp>
      <p:sp>
        <p:nvSpPr>
          <p:cNvPr id="5" name="Footer Placeholder 4">
            <a:extLst>
              <a:ext uri="{FF2B5EF4-FFF2-40B4-BE49-F238E27FC236}">
                <a16:creationId xmlns:a16="http://schemas.microsoft.com/office/drawing/2014/main" id="{A207E291-2A9D-6C75-DF84-B69FBFFC66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FDEC8CF-D735-7B05-DDDE-D8C6FA53B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52440F-0033-4B0B-960F-A008B9689B5A}" type="slidenum">
              <a:rPr lang="en-IN" smtClean="0"/>
              <a:t>‹#›</a:t>
            </a:fld>
            <a:endParaRPr lang="en-IN"/>
          </a:p>
        </p:txBody>
      </p:sp>
    </p:spTree>
    <p:extLst>
      <p:ext uri="{BB962C8B-B14F-4D97-AF65-F5344CB8AC3E}">
        <p14:creationId xmlns:p14="http://schemas.microsoft.com/office/powerpoint/2010/main" val="2473155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3DE5A-F6D9-8792-164E-12E9E40BC344}"/>
              </a:ext>
            </a:extLst>
          </p:cNvPr>
          <p:cNvSpPr>
            <a:spLocks noGrp="1"/>
          </p:cNvSpPr>
          <p:nvPr>
            <p:ph type="ctrTitle"/>
          </p:nvPr>
        </p:nvSpPr>
        <p:spPr>
          <a:xfrm>
            <a:off x="1524000" y="1740310"/>
            <a:ext cx="9144000" cy="1688690"/>
          </a:xfrm>
        </p:spPr>
        <p:txBody>
          <a:bodyPr>
            <a:normAutofit/>
          </a:bodyPr>
          <a:lstStyle/>
          <a:p>
            <a:r>
              <a:rPr lang="en-IN" sz="4800" dirty="0">
                <a:solidFill>
                  <a:schemeClr val="tx2"/>
                </a:solidFill>
              </a:rPr>
              <a:t>E-commerce order management system</a:t>
            </a:r>
          </a:p>
        </p:txBody>
      </p:sp>
      <p:sp>
        <p:nvSpPr>
          <p:cNvPr id="3" name="Subtitle 2">
            <a:extLst>
              <a:ext uri="{FF2B5EF4-FFF2-40B4-BE49-F238E27FC236}">
                <a16:creationId xmlns:a16="http://schemas.microsoft.com/office/drawing/2014/main" id="{53C6A016-DAF5-577C-C1C9-1CAFE79A2910}"/>
              </a:ext>
            </a:extLst>
          </p:cNvPr>
          <p:cNvSpPr>
            <a:spLocks noGrp="1"/>
          </p:cNvSpPr>
          <p:nvPr>
            <p:ph type="subTitle" idx="1"/>
          </p:nvPr>
        </p:nvSpPr>
        <p:spPr>
          <a:xfrm>
            <a:off x="7354529" y="4473677"/>
            <a:ext cx="4178710" cy="1261960"/>
          </a:xfrm>
        </p:spPr>
        <p:txBody>
          <a:bodyPr>
            <a:normAutofit fontScale="92500" lnSpcReduction="20000"/>
          </a:bodyPr>
          <a:lstStyle/>
          <a:p>
            <a:r>
              <a:rPr lang="en-IN" sz="1800" dirty="0"/>
              <a:t>       </a:t>
            </a:r>
            <a:r>
              <a:rPr lang="en-IN" sz="1800" b="1" i="1" dirty="0"/>
              <a:t>Y. Satya sree : 25B11CSA51</a:t>
            </a:r>
          </a:p>
          <a:p>
            <a:r>
              <a:rPr lang="en-IN" sz="1800" b="1" i="1" dirty="0" err="1"/>
              <a:t>K.Sindhu</a:t>
            </a:r>
            <a:r>
              <a:rPr lang="en-IN" sz="1800" b="1" i="1"/>
              <a:t> : 25B11CS408</a:t>
            </a:r>
          </a:p>
          <a:p>
            <a:r>
              <a:rPr lang="en-IN" sz="1800" b="1" i="1"/>
              <a:t>  </a:t>
            </a:r>
            <a:r>
              <a:rPr lang="en-IN" sz="1800" b="1" i="1" err="1"/>
              <a:t>K.Sanjana</a:t>
            </a:r>
            <a:r>
              <a:rPr lang="en-IN" sz="1800" b="1" i="1"/>
              <a:t> : 25B11CSA79</a:t>
            </a:r>
          </a:p>
          <a:p>
            <a:r>
              <a:rPr lang="en-IN" sz="1800" b="1" i="1"/>
              <a:t>  </a:t>
            </a:r>
            <a:r>
              <a:rPr lang="en-IN" sz="1800" b="1" i="1" err="1"/>
              <a:t>K.Lavanya</a:t>
            </a:r>
            <a:r>
              <a:rPr lang="en-IN" sz="1800" b="1" i="1"/>
              <a:t> : 25B11CS438</a:t>
            </a:r>
          </a:p>
        </p:txBody>
      </p:sp>
      <p:pic>
        <p:nvPicPr>
          <p:cNvPr id="5" name="Picture 4">
            <a:extLst>
              <a:ext uri="{FF2B5EF4-FFF2-40B4-BE49-F238E27FC236}">
                <a16:creationId xmlns:a16="http://schemas.microsoft.com/office/drawing/2014/main" id="{85930B6B-9FFD-2A03-6DDB-C6B212711C95}"/>
              </a:ext>
            </a:extLst>
          </p:cNvPr>
          <p:cNvPicPr>
            <a:picLocks noChangeAspect="1"/>
          </p:cNvPicPr>
          <p:nvPr/>
        </p:nvPicPr>
        <p:blipFill>
          <a:blip r:embed="rId3"/>
          <a:stretch>
            <a:fillRect/>
          </a:stretch>
        </p:blipFill>
        <p:spPr>
          <a:xfrm>
            <a:off x="2617302" y="416226"/>
            <a:ext cx="6721422" cy="1089754"/>
          </a:xfrm>
          <a:prstGeom prst="rect">
            <a:avLst/>
          </a:prstGeom>
        </p:spPr>
      </p:pic>
    </p:spTree>
    <p:extLst>
      <p:ext uri="{BB962C8B-B14F-4D97-AF65-F5344CB8AC3E}">
        <p14:creationId xmlns:p14="http://schemas.microsoft.com/office/powerpoint/2010/main" val="1652731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7657-30EE-B669-832F-8626B9E1344E}"/>
              </a:ext>
            </a:extLst>
          </p:cNvPr>
          <p:cNvSpPr>
            <a:spLocks noGrp="1"/>
          </p:cNvSpPr>
          <p:nvPr>
            <p:ph type="title"/>
          </p:nvPr>
        </p:nvSpPr>
        <p:spPr>
          <a:xfrm>
            <a:off x="4001728" y="365125"/>
            <a:ext cx="7352071" cy="1325563"/>
          </a:xfrm>
        </p:spPr>
        <p:txBody>
          <a:bodyPr>
            <a:normAutofit/>
          </a:bodyPr>
          <a:lstStyle/>
          <a:p>
            <a:r>
              <a:rPr lang="en-IN" sz="4800">
                <a:solidFill>
                  <a:schemeClr val="accent1"/>
                </a:solidFill>
              </a:rPr>
              <a:t>Introduction</a:t>
            </a:r>
          </a:p>
        </p:txBody>
      </p:sp>
      <p:sp>
        <p:nvSpPr>
          <p:cNvPr id="3" name="Content Placeholder 2">
            <a:extLst>
              <a:ext uri="{FF2B5EF4-FFF2-40B4-BE49-F238E27FC236}">
                <a16:creationId xmlns:a16="http://schemas.microsoft.com/office/drawing/2014/main" id="{1E382407-78AD-7634-A17F-76796AAA5831}"/>
              </a:ext>
            </a:extLst>
          </p:cNvPr>
          <p:cNvSpPr>
            <a:spLocks noGrp="1"/>
          </p:cNvSpPr>
          <p:nvPr>
            <p:ph idx="1"/>
          </p:nvPr>
        </p:nvSpPr>
        <p:spPr/>
        <p:txBody>
          <a:bodyPr>
            <a:normAutofit/>
          </a:bodyPr>
          <a:lstStyle/>
          <a:p>
            <a:pPr lvl="0"/>
            <a:r>
              <a:rPr lang="en-IN" sz="2000"/>
              <a:t>An E-Commerce Order Management System is a software system used to manage online customer orders. </a:t>
            </a:r>
          </a:p>
          <a:p>
            <a:pPr lvl="0"/>
            <a:r>
              <a:rPr lang="en-IN" sz="2000"/>
              <a:t>It helps customers browse products, place orders, and make payments. </a:t>
            </a:r>
          </a:p>
          <a:p>
            <a:pPr lvl="0"/>
            <a:r>
              <a:rPr lang="en-IN" sz="2000"/>
              <a:t>The system manages the complete order process from order placement to delivery. </a:t>
            </a:r>
          </a:p>
          <a:p>
            <a:pPr lvl="0"/>
            <a:r>
              <a:rPr lang="en-IN" sz="2000"/>
              <a:t>It stores important information such as customer details, product details, orders, and payments. </a:t>
            </a:r>
          </a:p>
          <a:p>
            <a:pPr lvl="0"/>
            <a:r>
              <a:rPr lang="en-IN" sz="2000"/>
              <a:t>It helps sellers track, update, and manage orders efficiently. </a:t>
            </a:r>
          </a:p>
          <a:p>
            <a:pPr lvl="0"/>
            <a:r>
              <a:rPr lang="en-IN" sz="2000"/>
              <a:t>The system reduces manual work and errors in order processing. </a:t>
            </a:r>
          </a:p>
          <a:p>
            <a:pPr lvl="0"/>
            <a:r>
              <a:rPr lang="en-IN" sz="2000"/>
              <a:t>It provides better customer service and faster order management. </a:t>
            </a:r>
          </a:p>
          <a:p>
            <a:pPr lvl="0"/>
            <a:r>
              <a:rPr lang="en-IN" sz="2000"/>
              <a:t>It can also manage order status, inventory, cancellations, and returns. </a:t>
            </a:r>
          </a:p>
          <a:p>
            <a:endParaRPr lang="en-IN" sz="2000"/>
          </a:p>
        </p:txBody>
      </p:sp>
      <p:pic>
        <p:nvPicPr>
          <p:cNvPr id="5" name="Picture 4">
            <a:extLst>
              <a:ext uri="{FF2B5EF4-FFF2-40B4-BE49-F238E27FC236}">
                <a16:creationId xmlns:a16="http://schemas.microsoft.com/office/drawing/2014/main" id="{32EA059D-07B4-27F5-6580-E9C520B91CE9}"/>
              </a:ext>
            </a:extLst>
          </p:cNvPr>
          <p:cNvPicPr>
            <a:picLocks noChangeAspect="1"/>
          </p:cNvPicPr>
          <p:nvPr/>
        </p:nvPicPr>
        <p:blipFill>
          <a:blip r:embed="rId2"/>
          <a:stretch>
            <a:fillRect/>
          </a:stretch>
        </p:blipFill>
        <p:spPr>
          <a:xfrm>
            <a:off x="0" y="46703"/>
            <a:ext cx="1981372" cy="777307"/>
          </a:xfrm>
          <a:prstGeom prst="rect">
            <a:avLst/>
          </a:prstGeom>
        </p:spPr>
      </p:pic>
    </p:spTree>
    <p:extLst>
      <p:ext uri="{BB962C8B-B14F-4D97-AF65-F5344CB8AC3E}">
        <p14:creationId xmlns:p14="http://schemas.microsoft.com/office/powerpoint/2010/main" val="5377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7657-30EE-B669-832F-8626B9E1344E}"/>
              </a:ext>
            </a:extLst>
          </p:cNvPr>
          <p:cNvSpPr>
            <a:spLocks noGrp="1"/>
          </p:cNvSpPr>
          <p:nvPr>
            <p:ph type="title"/>
          </p:nvPr>
        </p:nvSpPr>
        <p:spPr>
          <a:xfrm>
            <a:off x="3775586" y="365125"/>
            <a:ext cx="7578213" cy="1325563"/>
          </a:xfrm>
        </p:spPr>
        <p:txBody>
          <a:bodyPr>
            <a:normAutofit/>
          </a:bodyPr>
          <a:lstStyle/>
          <a:p>
            <a:r>
              <a:rPr lang="en-IN" sz="4800">
                <a:solidFill>
                  <a:schemeClr val="accent1"/>
                </a:solidFill>
              </a:rPr>
              <a:t>Problem statement</a:t>
            </a:r>
          </a:p>
        </p:txBody>
      </p:sp>
      <p:sp>
        <p:nvSpPr>
          <p:cNvPr id="3" name="Content Placeholder 2">
            <a:extLst>
              <a:ext uri="{FF2B5EF4-FFF2-40B4-BE49-F238E27FC236}">
                <a16:creationId xmlns:a16="http://schemas.microsoft.com/office/drawing/2014/main" id="{1E382407-78AD-7634-A17F-76796AAA5831}"/>
              </a:ext>
            </a:extLst>
          </p:cNvPr>
          <p:cNvSpPr>
            <a:spLocks noGrp="1"/>
          </p:cNvSpPr>
          <p:nvPr>
            <p:ph idx="1"/>
          </p:nvPr>
        </p:nvSpPr>
        <p:spPr>
          <a:xfrm>
            <a:off x="990686" y="1864954"/>
            <a:ext cx="10515600" cy="4351338"/>
          </a:xfrm>
        </p:spPr>
        <p:txBody>
          <a:bodyPr>
            <a:normAutofit/>
          </a:bodyPr>
          <a:lstStyle/>
          <a:p>
            <a:pPr lvl="0"/>
            <a:r>
              <a:rPr lang="en-IN" sz="2000"/>
              <a:t>Managing customer orders manually is time-consuming and difficult.</a:t>
            </a:r>
          </a:p>
          <a:p>
            <a:pPr lvl="0"/>
            <a:r>
              <a:rPr lang="en-IN" sz="2000"/>
              <a:t>It is challenging to track orders, payments, and delivery status accurately.</a:t>
            </a:r>
          </a:p>
          <a:p>
            <a:pPr lvl="0"/>
            <a:r>
              <a:rPr lang="en-IN" sz="2000"/>
              <a:t>Manual order processing can lead to errors and duplicate orders.</a:t>
            </a:r>
          </a:p>
          <a:p>
            <a:pPr lvl="0"/>
            <a:r>
              <a:rPr lang="en-IN" sz="2000"/>
              <a:t>Customers may not get real-time updates about their orders.</a:t>
            </a:r>
          </a:p>
          <a:p>
            <a:pPr lvl="0"/>
            <a:r>
              <a:rPr lang="en-IN" sz="2000"/>
              <a:t>Managing large numbers of orders becomes difficult as the business grows.</a:t>
            </a:r>
          </a:p>
          <a:p>
            <a:pPr lvl="0"/>
            <a:r>
              <a:rPr lang="en-IN" sz="2000"/>
              <a:t>There is a need to maintain customer, product, and order details in an organized way.</a:t>
            </a:r>
          </a:p>
          <a:p>
            <a:pPr lvl="0"/>
            <a:r>
              <a:rPr lang="en-IN" sz="2000"/>
              <a:t>The system should provide easy order placement, tracking, updating, and cancellation.</a:t>
            </a:r>
          </a:p>
          <a:p>
            <a:pPr lvl="0"/>
            <a:r>
              <a:rPr lang="en-IN" sz="2000"/>
              <a:t>The main aim is to develop a system that makes order management faster, accurate, and efficient.</a:t>
            </a:r>
          </a:p>
          <a:p>
            <a:endParaRPr lang="en-IN" sz="2000"/>
          </a:p>
        </p:txBody>
      </p:sp>
      <p:pic>
        <p:nvPicPr>
          <p:cNvPr id="5" name="Picture 4">
            <a:extLst>
              <a:ext uri="{FF2B5EF4-FFF2-40B4-BE49-F238E27FC236}">
                <a16:creationId xmlns:a16="http://schemas.microsoft.com/office/drawing/2014/main" id="{32EA059D-07B4-27F5-6580-E9C520B91CE9}"/>
              </a:ext>
            </a:extLst>
          </p:cNvPr>
          <p:cNvPicPr>
            <a:picLocks noChangeAspect="1"/>
          </p:cNvPicPr>
          <p:nvPr/>
        </p:nvPicPr>
        <p:blipFill>
          <a:blip r:embed="rId2"/>
          <a:stretch>
            <a:fillRect/>
          </a:stretch>
        </p:blipFill>
        <p:spPr>
          <a:xfrm>
            <a:off x="91440" y="97503"/>
            <a:ext cx="1981372" cy="777307"/>
          </a:xfrm>
          <a:prstGeom prst="rect">
            <a:avLst/>
          </a:prstGeom>
        </p:spPr>
      </p:pic>
    </p:spTree>
    <p:extLst>
      <p:ext uri="{BB962C8B-B14F-4D97-AF65-F5344CB8AC3E}">
        <p14:creationId xmlns:p14="http://schemas.microsoft.com/office/powerpoint/2010/main" val="2457149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7657-30EE-B669-832F-8626B9E1344E}"/>
              </a:ext>
            </a:extLst>
          </p:cNvPr>
          <p:cNvSpPr>
            <a:spLocks noGrp="1"/>
          </p:cNvSpPr>
          <p:nvPr>
            <p:ph type="title"/>
          </p:nvPr>
        </p:nvSpPr>
        <p:spPr>
          <a:xfrm>
            <a:off x="3923070" y="365125"/>
            <a:ext cx="7430729" cy="1325563"/>
          </a:xfrm>
        </p:spPr>
        <p:txBody>
          <a:bodyPr>
            <a:normAutofit/>
          </a:bodyPr>
          <a:lstStyle/>
          <a:p>
            <a:r>
              <a:rPr lang="en-IN" sz="4800">
                <a:solidFill>
                  <a:schemeClr val="accent1"/>
                </a:solidFill>
              </a:rPr>
              <a:t>Objectives </a:t>
            </a:r>
          </a:p>
        </p:txBody>
      </p:sp>
      <p:sp>
        <p:nvSpPr>
          <p:cNvPr id="3" name="Content Placeholder 2">
            <a:extLst>
              <a:ext uri="{FF2B5EF4-FFF2-40B4-BE49-F238E27FC236}">
                <a16:creationId xmlns:a16="http://schemas.microsoft.com/office/drawing/2014/main" id="{1E382407-78AD-7634-A17F-76796AAA5831}"/>
              </a:ext>
            </a:extLst>
          </p:cNvPr>
          <p:cNvSpPr>
            <a:spLocks noGrp="1"/>
          </p:cNvSpPr>
          <p:nvPr>
            <p:ph idx="1"/>
          </p:nvPr>
        </p:nvSpPr>
        <p:spPr/>
        <p:txBody>
          <a:bodyPr>
            <a:noAutofit/>
          </a:bodyPr>
          <a:lstStyle/>
          <a:p>
            <a:pPr marL="0" indent="0">
              <a:buNone/>
            </a:pPr>
            <a:endParaRPr lang="en-IN" sz="2000"/>
          </a:p>
          <a:p>
            <a:pPr lvl="0"/>
            <a:r>
              <a:rPr lang="en-IN" sz="2000"/>
              <a:t>To manage customer orders efficiently.</a:t>
            </a:r>
          </a:p>
          <a:p>
            <a:pPr lvl="0"/>
            <a:r>
              <a:rPr lang="en-IN" sz="2000"/>
              <a:t>To provide easy and quick order placement.</a:t>
            </a:r>
          </a:p>
          <a:p>
            <a:pPr lvl="0"/>
            <a:r>
              <a:rPr lang="en-IN" sz="2000"/>
              <a:t>To maintain customer and product details accurately.</a:t>
            </a:r>
          </a:p>
          <a:p>
            <a:pPr lvl="0"/>
            <a:r>
              <a:rPr lang="en-IN" sz="2000"/>
              <a:t>To track order status and delivery details.</a:t>
            </a:r>
          </a:p>
          <a:p>
            <a:pPr lvl="0"/>
            <a:r>
              <a:rPr lang="en-IN" sz="2000"/>
              <a:t>To reduce manual work and human errors.</a:t>
            </a:r>
          </a:p>
          <a:p>
            <a:pPr lvl="0"/>
            <a:r>
              <a:rPr lang="en-IN" sz="2000"/>
              <a:t>To manage payments and order records effectively.</a:t>
            </a:r>
          </a:p>
          <a:p>
            <a:pPr lvl="0"/>
            <a:r>
              <a:rPr lang="en-IN" sz="2000"/>
              <a:t>To provide customers with order updates.</a:t>
            </a:r>
          </a:p>
          <a:p>
            <a:pPr lvl="0"/>
            <a:r>
              <a:rPr lang="en-IN" sz="2000"/>
              <a:t>To support order cancellation and modification.</a:t>
            </a:r>
          </a:p>
          <a:p>
            <a:endParaRPr lang="en-IN" sz="2000"/>
          </a:p>
        </p:txBody>
      </p:sp>
      <p:pic>
        <p:nvPicPr>
          <p:cNvPr id="5" name="Picture 4">
            <a:extLst>
              <a:ext uri="{FF2B5EF4-FFF2-40B4-BE49-F238E27FC236}">
                <a16:creationId xmlns:a16="http://schemas.microsoft.com/office/drawing/2014/main" id="{32EA059D-07B4-27F5-6580-E9C520B91CE9}"/>
              </a:ext>
            </a:extLst>
          </p:cNvPr>
          <p:cNvPicPr>
            <a:picLocks noChangeAspect="1"/>
          </p:cNvPicPr>
          <p:nvPr/>
        </p:nvPicPr>
        <p:blipFill>
          <a:blip r:embed="rId2"/>
          <a:stretch>
            <a:fillRect/>
          </a:stretch>
        </p:blipFill>
        <p:spPr>
          <a:xfrm>
            <a:off x="0" y="46703"/>
            <a:ext cx="1981372" cy="777307"/>
          </a:xfrm>
          <a:prstGeom prst="rect">
            <a:avLst/>
          </a:prstGeom>
        </p:spPr>
      </p:pic>
    </p:spTree>
    <p:extLst>
      <p:ext uri="{BB962C8B-B14F-4D97-AF65-F5344CB8AC3E}">
        <p14:creationId xmlns:p14="http://schemas.microsoft.com/office/powerpoint/2010/main" val="2545597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7657-30EE-B669-832F-8626B9E1344E}"/>
              </a:ext>
            </a:extLst>
          </p:cNvPr>
          <p:cNvSpPr>
            <a:spLocks noGrp="1"/>
          </p:cNvSpPr>
          <p:nvPr>
            <p:ph type="title"/>
          </p:nvPr>
        </p:nvSpPr>
        <p:spPr>
          <a:xfrm>
            <a:off x="3441290" y="365125"/>
            <a:ext cx="7912510" cy="1325563"/>
          </a:xfrm>
        </p:spPr>
        <p:txBody>
          <a:bodyPr>
            <a:normAutofit/>
          </a:bodyPr>
          <a:lstStyle/>
          <a:p>
            <a:r>
              <a:rPr lang="en-IN" sz="4800">
                <a:solidFill>
                  <a:schemeClr val="accent1"/>
                </a:solidFill>
              </a:rPr>
              <a:t>Functional Requirements</a:t>
            </a:r>
          </a:p>
        </p:txBody>
      </p:sp>
      <p:sp>
        <p:nvSpPr>
          <p:cNvPr id="3" name="Content Placeholder 2">
            <a:extLst>
              <a:ext uri="{FF2B5EF4-FFF2-40B4-BE49-F238E27FC236}">
                <a16:creationId xmlns:a16="http://schemas.microsoft.com/office/drawing/2014/main" id="{1E382407-78AD-7634-A17F-76796AAA5831}"/>
              </a:ext>
            </a:extLst>
          </p:cNvPr>
          <p:cNvSpPr>
            <a:spLocks noGrp="1"/>
          </p:cNvSpPr>
          <p:nvPr>
            <p:ph idx="1"/>
          </p:nvPr>
        </p:nvSpPr>
        <p:spPr/>
        <p:txBody>
          <a:bodyPr>
            <a:normAutofit fontScale="70000" lnSpcReduction="20000"/>
          </a:bodyPr>
          <a:lstStyle/>
          <a:p>
            <a:pPr marL="0" indent="0">
              <a:buNone/>
            </a:pPr>
            <a:endParaRPr lang="en-IN" sz="3200"/>
          </a:p>
          <a:p>
            <a:pPr lvl="0"/>
            <a:r>
              <a:rPr lang="en-IN" sz="3200"/>
              <a:t>User Registration and Login – Users can create accounts and securely log in.</a:t>
            </a:r>
          </a:p>
          <a:p>
            <a:pPr lvl="0"/>
            <a:r>
              <a:rPr lang="en-IN" sz="3200"/>
              <a:t>Product Management – Admin can add, update, delete, and view products.</a:t>
            </a:r>
          </a:p>
          <a:p>
            <a:pPr lvl="0"/>
            <a:r>
              <a:rPr lang="en-IN" sz="3200"/>
              <a:t>Product Search – Users can search and view available products.</a:t>
            </a:r>
          </a:p>
          <a:p>
            <a:pPr lvl="0"/>
            <a:r>
              <a:rPr lang="en-IN" sz="3200"/>
              <a:t>Shopping Cart – Users can add, remove, and update products in the cart.</a:t>
            </a:r>
          </a:p>
          <a:p>
            <a:pPr lvl="0"/>
            <a:r>
              <a:rPr lang="en-IN" sz="3200"/>
              <a:t>Order Placement – Users can place orders by providing required details.</a:t>
            </a:r>
          </a:p>
          <a:p>
            <a:pPr lvl="0"/>
            <a:r>
              <a:rPr lang="en-IN" sz="3200"/>
              <a:t>Payment Management – The system should process and record payments.</a:t>
            </a:r>
          </a:p>
          <a:p>
            <a:pPr lvl="0"/>
            <a:r>
              <a:rPr lang="en-IN" sz="3200"/>
              <a:t>Order Tracking – Users can check the current status of their orders.</a:t>
            </a:r>
          </a:p>
          <a:p>
            <a:pPr lvl="0"/>
            <a:r>
              <a:rPr lang="en-IN" sz="3200"/>
              <a:t>Order Cancellation – Users can cancel orders according to the system rules.</a:t>
            </a:r>
          </a:p>
          <a:p>
            <a:pPr lvl="0"/>
            <a:r>
              <a:rPr lang="en-IN" sz="3200"/>
              <a:t>Order History – Users can view their previous orders.</a:t>
            </a:r>
          </a:p>
          <a:p>
            <a:pPr lvl="0"/>
            <a:r>
              <a:rPr lang="en-IN" sz="3200"/>
              <a:t>Delivery Management – Admin can update delivery and shipping status.</a:t>
            </a:r>
          </a:p>
          <a:p>
            <a:pPr marL="0" indent="0">
              <a:buNone/>
            </a:pPr>
            <a:endParaRPr lang="en-IN"/>
          </a:p>
        </p:txBody>
      </p:sp>
      <p:pic>
        <p:nvPicPr>
          <p:cNvPr id="5" name="Picture 4">
            <a:extLst>
              <a:ext uri="{FF2B5EF4-FFF2-40B4-BE49-F238E27FC236}">
                <a16:creationId xmlns:a16="http://schemas.microsoft.com/office/drawing/2014/main" id="{32EA059D-07B4-27F5-6580-E9C520B91CE9}"/>
              </a:ext>
            </a:extLst>
          </p:cNvPr>
          <p:cNvPicPr>
            <a:picLocks noChangeAspect="1"/>
          </p:cNvPicPr>
          <p:nvPr/>
        </p:nvPicPr>
        <p:blipFill>
          <a:blip r:embed="rId2"/>
          <a:stretch>
            <a:fillRect/>
          </a:stretch>
        </p:blipFill>
        <p:spPr>
          <a:xfrm>
            <a:off x="0" y="46703"/>
            <a:ext cx="1981372" cy="777307"/>
          </a:xfrm>
          <a:prstGeom prst="rect">
            <a:avLst/>
          </a:prstGeom>
        </p:spPr>
      </p:pic>
    </p:spTree>
    <p:extLst>
      <p:ext uri="{BB962C8B-B14F-4D97-AF65-F5344CB8AC3E}">
        <p14:creationId xmlns:p14="http://schemas.microsoft.com/office/powerpoint/2010/main" val="12952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FE49-413F-5879-E3E7-1C5555A55A01}"/>
              </a:ext>
            </a:extLst>
          </p:cNvPr>
          <p:cNvSpPr>
            <a:spLocks noGrp="1"/>
          </p:cNvSpPr>
          <p:nvPr>
            <p:ph type="title"/>
          </p:nvPr>
        </p:nvSpPr>
        <p:spPr>
          <a:xfrm>
            <a:off x="2595716" y="365125"/>
            <a:ext cx="8758084" cy="1325563"/>
          </a:xfrm>
        </p:spPr>
        <p:txBody>
          <a:bodyPr/>
          <a:lstStyle/>
          <a:p>
            <a:r>
              <a:rPr lang="en-IN">
                <a:solidFill>
                  <a:schemeClr val="accent1"/>
                </a:solidFill>
              </a:rPr>
              <a:t> </a:t>
            </a:r>
            <a:r>
              <a:rPr lang="en-IN" sz="4800">
                <a:solidFill>
                  <a:schemeClr val="accent1"/>
                </a:solidFill>
              </a:rPr>
              <a:t>Non-Functional Requirements</a:t>
            </a:r>
            <a:endParaRPr lang="en-IN" sz="4800"/>
          </a:p>
        </p:txBody>
      </p:sp>
      <p:pic>
        <p:nvPicPr>
          <p:cNvPr id="5" name="Content Placeholder 4">
            <a:extLst>
              <a:ext uri="{FF2B5EF4-FFF2-40B4-BE49-F238E27FC236}">
                <a16:creationId xmlns:a16="http://schemas.microsoft.com/office/drawing/2014/main" id="{4B74163A-EF5D-113D-8E54-64B63D7CB44F}"/>
              </a:ext>
            </a:extLst>
          </p:cNvPr>
          <p:cNvPicPr>
            <a:picLocks noGrp="1" noChangeAspect="1"/>
          </p:cNvPicPr>
          <p:nvPr>
            <p:ph idx="1"/>
          </p:nvPr>
        </p:nvPicPr>
        <p:blipFill>
          <a:blip r:embed="rId2"/>
          <a:stretch>
            <a:fillRect/>
          </a:stretch>
        </p:blipFill>
        <p:spPr>
          <a:xfrm>
            <a:off x="0" y="0"/>
            <a:ext cx="2150892" cy="796413"/>
          </a:xfrm>
          <a:prstGeom prst="rect">
            <a:avLst/>
          </a:prstGeom>
        </p:spPr>
      </p:pic>
      <p:sp>
        <p:nvSpPr>
          <p:cNvPr id="7" name="TextBox 6">
            <a:extLst>
              <a:ext uri="{FF2B5EF4-FFF2-40B4-BE49-F238E27FC236}">
                <a16:creationId xmlns:a16="http://schemas.microsoft.com/office/drawing/2014/main" id="{EC47FCCA-2C5C-C649-6A0D-CD394CD3D238}"/>
              </a:ext>
            </a:extLst>
          </p:cNvPr>
          <p:cNvSpPr txBox="1"/>
          <p:nvPr/>
        </p:nvSpPr>
        <p:spPr>
          <a:xfrm>
            <a:off x="1716957" y="2050813"/>
            <a:ext cx="8758085" cy="4093428"/>
          </a:xfrm>
          <a:prstGeom prst="rect">
            <a:avLst/>
          </a:prstGeom>
          <a:noFill/>
        </p:spPr>
        <p:txBody>
          <a:bodyPr wrap="square">
            <a:spAutoFit/>
          </a:bodyPr>
          <a:lstStyle/>
          <a:p>
            <a:pPr marL="342900" lvl="0" indent="-342900">
              <a:buFont typeface="Arial" panose="020B0604020202020204" pitchFamily="34" charset="0"/>
              <a:buChar char="•"/>
            </a:pPr>
            <a:r>
              <a:rPr lang="en-IN" sz="2000"/>
              <a:t>Performance – The system should respond quickly to user requests. </a:t>
            </a:r>
          </a:p>
          <a:p>
            <a:pPr marL="342900" lvl="0" indent="-342900">
              <a:buFont typeface="Arial" panose="020B0604020202020204" pitchFamily="34" charset="0"/>
              <a:buChar char="•"/>
            </a:pPr>
            <a:r>
              <a:rPr lang="en-IN" sz="2000"/>
              <a:t>Security – User and payment information should be protected. </a:t>
            </a:r>
          </a:p>
          <a:p>
            <a:pPr marL="342900" lvl="0" indent="-342900">
              <a:buFont typeface="Arial" panose="020B0604020202020204" pitchFamily="34" charset="0"/>
              <a:buChar char="•"/>
            </a:pPr>
            <a:r>
              <a:rPr lang="en-IN" sz="2000"/>
              <a:t>Reliability – The system should work correctly without frequent failures. </a:t>
            </a:r>
          </a:p>
          <a:p>
            <a:pPr marL="342900" lvl="0" indent="-342900">
              <a:buFont typeface="Arial" panose="020B0604020202020204" pitchFamily="34" charset="0"/>
              <a:buChar char="•"/>
            </a:pPr>
            <a:r>
              <a:rPr lang="en-IN" sz="2000"/>
              <a:t>Availability – The system should be available whenever users need it. </a:t>
            </a:r>
          </a:p>
          <a:p>
            <a:pPr marL="342900" lvl="0" indent="-342900">
              <a:buFont typeface="Arial" panose="020B0604020202020204" pitchFamily="34" charset="0"/>
              <a:buChar char="•"/>
            </a:pPr>
            <a:r>
              <a:rPr lang="en-IN" sz="2000"/>
              <a:t>Scalability – The system should handle an increasing number of users and orders. </a:t>
            </a:r>
          </a:p>
          <a:p>
            <a:pPr marL="342900" lvl="0" indent="-342900">
              <a:buFont typeface="Arial" panose="020B0604020202020204" pitchFamily="34" charset="0"/>
              <a:buChar char="•"/>
            </a:pPr>
            <a:r>
              <a:rPr lang="en-IN" sz="2000"/>
              <a:t>Usability – The system should be simple and easy to use. </a:t>
            </a:r>
          </a:p>
          <a:p>
            <a:pPr marL="342900" lvl="0" indent="-342900">
              <a:buFont typeface="Arial" panose="020B0604020202020204" pitchFamily="34" charset="0"/>
              <a:buChar char="•"/>
            </a:pPr>
            <a:r>
              <a:rPr lang="en-IN" sz="2000"/>
              <a:t>Maintainability – The system should be easy to update and maintain. </a:t>
            </a:r>
          </a:p>
          <a:p>
            <a:pPr marL="342900" lvl="0" indent="-342900">
              <a:buFont typeface="Arial" panose="020B0604020202020204" pitchFamily="34" charset="0"/>
              <a:buChar char="•"/>
            </a:pPr>
            <a:r>
              <a:rPr lang="en-IN" sz="2000"/>
              <a:t>Accuracy – Order, payment, and customer information should be processed accurately. </a:t>
            </a:r>
          </a:p>
          <a:p>
            <a:pPr marL="342900" lvl="0" indent="-342900">
              <a:buFont typeface="Arial" panose="020B0604020202020204" pitchFamily="34" charset="0"/>
              <a:buChar char="•"/>
            </a:pPr>
            <a:r>
              <a:rPr lang="en-IN" sz="2000"/>
              <a:t>Data Backup – Important data should be backed up to prevent data loss. </a:t>
            </a:r>
          </a:p>
          <a:p>
            <a:pPr marL="342900" lvl="0" indent="-342900">
              <a:buFont typeface="Arial" panose="020B0604020202020204" pitchFamily="34" charset="0"/>
              <a:buChar char="•"/>
            </a:pPr>
            <a:r>
              <a:rPr lang="en-IN" sz="2000"/>
              <a:t>Compatibility – The system should work properly on different devices and browsers.</a:t>
            </a:r>
          </a:p>
        </p:txBody>
      </p:sp>
    </p:spTree>
    <p:extLst>
      <p:ext uri="{BB962C8B-B14F-4D97-AF65-F5344CB8AC3E}">
        <p14:creationId xmlns:p14="http://schemas.microsoft.com/office/powerpoint/2010/main" val="1089954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6A4F-6AC9-AFDB-FB56-7A4976C78001}"/>
              </a:ext>
            </a:extLst>
          </p:cNvPr>
          <p:cNvSpPr>
            <a:spLocks noGrp="1"/>
          </p:cNvSpPr>
          <p:nvPr>
            <p:ph type="title"/>
          </p:nvPr>
        </p:nvSpPr>
        <p:spPr>
          <a:xfrm>
            <a:off x="3293806" y="365125"/>
            <a:ext cx="8059994" cy="1325563"/>
          </a:xfrm>
        </p:spPr>
        <p:txBody>
          <a:bodyPr>
            <a:normAutofit fontScale="90000"/>
          </a:bodyPr>
          <a:lstStyle/>
          <a:p>
            <a:r>
              <a:rPr lang="en-IN"/>
              <a:t> </a:t>
            </a:r>
            <a:r>
              <a:rPr lang="en-IN" sz="4800">
                <a:solidFill>
                  <a:schemeClr val="accent1"/>
                </a:solidFill>
              </a:rPr>
              <a:t>Attributes and Entities</a:t>
            </a:r>
            <a:br>
              <a:rPr lang="en-IN" sz="4800">
                <a:solidFill>
                  <a:schemeClr val="accent1"/>
                </a:solidFill>
              </a:rPr>
            </a:br>
            <a:endParaRPr lang="en-IN" sz="4800">
              <a:solidFill>
                <a:schemeClr val="accent1"/>
              </a:solidFill>
            </a:endParaRPr>
          </a:p>
        </p:txBody>
      </p:sp>
      <p:pic>
        <p:nvPicPr>
          <p:cNvPr id="4" name="Content Placeholder 4">
            <a:extLst>
              <a:ext uri="{FF2B5EF4-FFF2-40B4-BE49-F238E27FC236}">
                <a16:creationId xmlns:a16="http://schemas.microsoft.com/office/drawing/2014/main" id="{0F192C43-4D04-9EC7-8DAE-C62B44A72346}"/>
              </a:ext>
            </a:extLst>
          </p:cNvPr>
          <p:cNvPicPr>
            <a:picLocks noGrp="1" noChangeAspect="1"/>
          </p:cNvPicPr>
          <p:nvPr>
            <p:ph idx="1"/>
          </p:nvPr>
        </p:nvPicPr>
        <p:blipFill>
          <a:blip r:embed="rId2"/>
          <a:stretch>
            <a:fillRect/>
          </a:stretch>
        </p:blipFill>
        <p:spPr>
          <a:xfrm>
            <a:off x="98651" y="0"/>
            <a:ext cx="1981372" cy="777307"/>
          </a:xfrm>
          <a:prstGeom prst="rect">
            <a:avLst/>
          </a:prstGeom>
        </p:spPr>
      </p:pic>
      <p:graphicFrame>
        <p:nvGraphicFramePr>
          <p:cNvPr id="6" name="Table 5">
            <a:extLst>
              <a:ext uri="{FF2B5EF4-FFF2-40B4-BE49-F238E27FC236}">
                <a16:creationId xmlns:a16="http://schemas.microsoft.com/office/drawing/2014/main" id="{D6D016B0-47D2-0538-6E57-02671ABC385F}"/>
              </a:ext>
            </a:extLst>
          </p:cNvPr>
          <p:cNvGraphicFramePr>
            <a:graphicFrameLocks noGrp="1"/>
          </p:cNvGraphicFramePr>
          <p:nvPr>
            <p:extLst>
              <p:ext uri="{D42A27DB-BD31-4B8C-83A1-F6EECF244321}">
                <p14:modId xmlns:p14="http://schemas.microsoft.com/office/powerpoint/2010/main" val="1793318512"/>
              </p:ext>
            </p:extLst>
          </p:nvPr>
        </p:nvGraphicFramePr>
        <p:xfrm>
          <a:off x="1371445" y="1602656"/>
          <a:ext cx="2140896" cy="1737360"/>
        </p:xfrm>
        <a:graphic>
          <a:graphicData uri="http://schemas.openxmlformats.org/drawingml/2006/table">
            <a:tbl>
              <a:tblPr/>
              <a:tblGrid>
                <a:gridCol w="2140896">
                  <a:extLst>
                    <a:ext uri="{9D8B030D-6E8A-4147-A177-3AD203B41FA5}">
                      <a16:colId xmlns:a16="http://schemas.microsoft.com/office/drawing/2014/main" val="36288648"/>
                    </a:ext>
                  </a:extLst>
                </a:gridCol>
              </a:tblGrid>
              <a:tr h="1704347">
                <a:tc>
                  <a:txBody>
                    <a:bodyPr/>
                    <a:lstStyle/>
                    <a:p>
                      <a:r>
                        <a:rPr lang="en-IN" b="1"/>
                        <a:t>Customer</a:t>
                      </a:r>
                      <a:endParaRPr lang="en-IN"/>
                    </a:p>
                    <a:p>
                      <a:pPr lvl="0"/>
                      <a:r>
                        <a:rPr lang="en-IN"/>
                        <a:t>Customer ID </a:t>
                      </a:r>
                    </a:p>
                    <a:p>
                      <a:pPr lvl="0"/>
                      <a:r>
                        <a:rPr lang="en-IN"/>
                        <a:t>Name </a:t>
                      </a:r>
                    </a:p>
                    <a:p>
                      <a:pPr lvl="0"/>
                      <a:r>
                        <a:rPr lang="en-IN"/>
                        <a:t>Email </a:t>
                      </a:r>
                    </a:p>
                    <a:p>
                      <a:pPr lvl="0"/>
                      <a:r>
                        <a:rPr lang="en-IN"/>
                        <a:t>Phone</a:t>
                      </a:r>
                    </a:p>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63868359"/>
                  </a:ext>
                </a:extLst>
              </a:tr>
            </a:tbl>
          </a:graphicData>
        </a:graphic>
      </p:graphicFrame>
      <p:graphicFrame>
        <p:nvGraphicFramePr>
          <p:cNvPr id="7" name="Table 6">
            <a:extLst>
              <a:ext uri="{FF2B5EF4-FFF2-40B4-BE49-F238E27FC236}">
                <a16:creationId xmlns:a16="http://schemas.microsoft.com/office/drawing/2014/main" id="{140E35D4-2200-65E8-9BAF-9FAD45EC072E}"/>
              </a:ext>
            </a:extLst>
          </p:cNvPr>
          <p:cNvGraphicFramePr>
            <a:graphicFrameLocks noGrp="1"/>
          </p:cNvGraphicFramePr>
          <p:nvPr>
            <p:extLst>
              <p:ext uri="{D42A27DB-BD31-4B8C-83A1-F6EECF244321}">
                <p14:modId xmlns:p14="http://schemas.microsoft.com/office/powerpoint/2010/main" val="1352537152"/>
              </p:ext>
            </p:extLst>
          </p:nvPr>
        </p:nvGraphicFramePr>
        <p:xfrm>
          <a:off x="4549800" y="1602657"/>
          <a:ext cx="2140896" cy="1737360"/>
        </p:xfrm>
        <a:graphic>
          <a:graphicData uri="http://schemas.openxmlformats.org/drawingml/2006/table">
            <a:tbl>
              <a:tblPr/>
              <a:tblGrid>
                <a:gridCol w="2140896">
                  <a:extLst>
                    <a:ext uri="{9D8B030D-6E8A-4147-A177-3AD203B41FA5}">
                      <a16:colId xmlns:a16="http://schemas.microsoft.com/office/drawing/2014/main" val="3698396163"/>
                    </a:ext>
                  </a:extLst>
                </a:gridCol>
              </a:tblGrid>
              <a:tr h="1717693">
                <a:tc>
                  <a:txBody>
                    <a:bodyPr/>
                    <a:lstStyle/>
                    <a:p>
                      <a:r>
                        <a:rPr lang="en-IN" b="1"/>
                        <a:t>Product</a:t>
                      </a:r>
                      <a:endParaRPr lang="en-IN"/>
                    </a:p>
                    <a:p>
                      <a:pPr lvl="0"/>
                      <a:r>
                        <a:rPr lang="en-IN"/>
                        <a:t>Product_ID </a:t>
                      </a:r>
                    </a:p>
                    <a:p>
                      <a:pPr lvl="0"/>
                      <a:r>
                        <a:rPr lang="en-IN"/>
                        <a:t>Product Name </a:t>
                      </a:r>
                    </a:p>
                    <a:p>
                      <a:pPr lvl="0"/>
                      <a:r>
                        <a:rPr lang="en-IN"/>
                        <a:t>Price </a:t>
                      </a:r>
                    </a:p>
                    <a:p>
                      <a:pPr lvl="0"/>
                      <a:r>
                        <a:rPr lang="en-IN"/>
                        <a:t>Quantity</a:t>
                      </a:r>
                    </a:p>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085162376"/>
                  </a:ext>
                </a:extLst>
              </a:tr>
            </a:tbl>
          </a:graphicData>
        </a:graphic>
      </p:graphicFrame>
      <p:graphicFrame>
        <p:nvGraphicFramePr>
          <p:cNvPr id="8" name="Table 7">
            <a:extLst>
              <a:ext uri="{FF2B5EF4-FFF2-40B4-BE49-F238E27FC236}">
                <a16:creationId xmlns:a16="http://schemas.microsoft.com/office/drawing/2014/main" id="{88BCB5D5-74A6-3E05-322C-B675CEEF691E}"/>
              </a:ext>
            </a:extLst>
          </p:cNvPr>
          <p:cNvGraphicFramePr>
            <a:graphicFrameLocks noGrp="1"/>
          </p:cNvGraphicFramePr>
          <p:nvPr>
            <p:extLst>
              <p:ext uri="{D42A27DB-BD31-4B8C-83A1-F6EECF244321}">
                <p14:modId xmlns:p14="http://schemas.microsoft.com/office/powerpoint/2010/main" val="2054537891"/>
              </p:ext>
            </p:extLst>
          </p:nvPr>
        </p:nvGraphicFramePr>
        <p:xfrm>
          <a:off x="7728155" y="1602657"/>
          <a:ext cx="2251588" cy="1737360"/>
        </p:xfrm>
        <a:graphic>
          <a:graphicData uri="http://schemas.openxmlformats.org/drawingml/2006/table">
            <a:tbl>
              <a:tblPr/>
              <a:tblGrid>
                <a:gridCol w="2251588">
                  <a:extLst>
                    <a:ext uri="{9D8B030D-6E8A-4147-A177-3AD203B41FA5}">
                      <a16:colId xmlns:a16="http://schemas.microsoft.com/office/drawing/2014/main" val="424474364"/>
                    </a:ext>
                  </a:extLst>
                </a:gridCol>
              </a:tblGrid>
              <a:tr h="1652280">
                <a:tc>
                  <a:txBody>
                    <a:bodyPr/>
                    <a:lstStyle/>
                    <a:p>
                      <a:r>
                        <a:rPr lang="en-IN" b="1"/>
                        <a:t>Order</a:t>
                      </a:r>
                      <a:endParaRPr lang="en-IN"/>
                    </a:p>
                    <a:p>
                      <a:pPr lvl="0"/>
                      <a:r>
                        <a:rPr lang="en-IN"/>
                        <a:t>Order ID </a:t>
                      </a:r>
                    </a:p>
                    <a:p>
                      <a:pPr lvl="0"/>
                      <a:r>
                        <a:rPr lang="en-IN"/>
                        <a:t>Customer ID </a:t>
                      </a:r>
                    </a:p>
                    <a:p>
                      <a:pPr lvl="0"/>
                      <a:r>
                        <a:rPr lang="en-IN"/>
                        <a:t>Order Date </a:t>
                      </a:r>
                    </a:p>
                    <a:p>
                      <a:pPr lvl="0"/>
                      <a:r>
                        <a:rPr lang="en-IN"/>
                        <a:t>Status</a:t>
                      </a:r>
                    </a:p>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95708929"/>
                  </a:ext>
                </a:extLst>
              </a:tr>
            </a:tbl>
          </a:graphicData>
        </a:graphic>
      </p:graphicFrame>
      <p:graphicFrame>
        <p:nvGraphicFramePr>
          <p:cNvPr id="11" name="Table 10">
            <a:extLst>
              <a:ext uri="{FF2B5EF4-FFF2-40B4-BE49-F238E27FC236}">
                <a16:creationId xmlns:a16="http://schemas.microsoft.com/office/drawing/2014/main" id="{FA1763D0-4127-16BB-0346-612562520B9D}"/>
              </a:ext>
            </a:extLst>
          </p:cNvPr>
          <p:cNvGraphicFramePr>
            <a:graphicFrameLocks noGrp="1"/>
          </p:cNvGraphicFramePr>
          <p:nvPr>
            <p:extLst>
              <p:ext uri="{D42A27DB-BD31-4B8C-83A1-F6EECF244321}">
                <p14:modId xmlns:p14="http://schemas.microsoft.com/office/powerpoint/2010/main" val="1102193008"/>
              </p:ext>
            </p:extLst>
          </p:nvPr>
        </p:nvGraphicFramePr>
        <p:xfrm>
          <a:off x="2408904" y="4193920"/>
          <a:ext cx="2140896" cy="1946786"/>
        </p:xfrm>
        <a:graphic>
          <a:graphicData uri="http://schemas.openxmlformats.org/drawingml/2006/table">
            <a:tbl>
              <a:tblPr/>
              <a:tblGrid>
                <a:gridCol w="2140896">
                  <a:extLst>
                    <a:ext uri="{9D8B030D-6E8A-4147-A177-3AD203B41FA5}">
                      <a16:colId xmlns:a16="http://schemas.microsoft.com/office/drawing/2014/main" val="4291682563"/>
                    </a:ext>
                  </a:extLst>
                </a:gridCol>
              </a:tblGrid>
              <a:tr h="1946786">
                <a:tc>
                  <a:txBody>
                    <a:bodyPr/>
                    <a:lstStyle/>
                    <a:p>
                      <a:r>
                        <a:rPr lang="en-IN" b="1"/>
                        <a:t>Payment</a:t>
                      </a:r>
                      <a:endParaRPr lang="en-IN"/>
                    </a:p>
                    <a:p>
                      <a:pPr lvl="0"/>
                      <a:r>
                        <a:rPr lang="en-IN"/>
                        <a:t>Payment ID </a:t>
                      </a:r>
                    </a:p>
                    <a:p>
                      <a:pPr lvl="0"/>
                      <a:r>
                        <a:rPr lang="en-IN"/>
                        <a:t>Order ID </a:t>
                      </a:r>
                    </a:p>
                    <a:p>
                      <a:pPr lvl="0"/>
                      <a:r>
                        <a:rPr lang="en-IN"/>
                        <a:t>Amount </a:t>
                      </a:r>
                    </a:p>
                    <a:p>
                      <a:pPr lvl="0"/>
                      <a:r>
                        <a:rPr lang="en-IN"/>
                        <a:t>Payment Status</a:t>
                      </a:r>
                    </a:p>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026850333"/>
                  </a:ext>
                </a:extLst>
              </a:tr>
            </a:tbl>
          </a:graphicData>
        </a:graphic>
      </p:graphicFrame>
      <p:graphicFrame>
        <p:nvGraphicFramePr>
          <p:cNvPr id="12" name="Table 11">
            <a:extLst>
              <a:ext uri="{FF2B5EF4-FFF2-40B4-BE49-F238E27FC236}">
                <a16:creationId xmlns:a16="http://schemas.microsoft.com/office/drawing/2014/main" id="{863202C5-A3F8-75C1-6249-3DECE2338378}"/>
              </a:ext>
            </a:extLst>
          </p:cNvPr>
          <p:cNvGraphicFramePr>
            <a:graphicFrameLocks noGrp="1"/>
          </p:cNvGraphicFramePr>
          <p:nvPr>
            <p:extLst>
              <p:ext uri="{D42A27DB-BD31-4B8C-83A1-F6EECF244321}">
                <p14:modId xmlns:p14="http://schemas.microsoft.com/office/powerpoint/2010/main" val="1547669977"/>
              </p:ext>
            </p:extLst>
          </p:nvPr>
        </p:nvGraphicFramePr>
        <p:xfrm>
          <a:off x="5594555" y="4193919"/>
          <a:ext cx="2251588" cy="1862752"/>
        </p:xfrm>
        <a:graphic>
          <a:graphicData uri="http://schemas.openxmlformats.org/drawingml/2006/table">
            <a:tbl>
              <a:tblPr/>
              <a:tblGrid>
                <a:gridCol w="2251588">
                  <a:extLst>
                    <a:ext uri="{9D8B030D-6E8A-4147-A177-3AD203B41FA5}">
                      <a16:colId xmlns:a16="http://schemas.microsoft.com/office/drawing/2014/main" val="2379684035"/>
                    </a:ext>
                  </a:extLst>
                </a:gridCol>
              </a:tblGrid>
              <a:tr h="1862752">
                <a:tc>
                  <a:txBody>
                    <a:bodyPr/>
                    <a:lstStyle/>
                    <a:p>
                      <a:r>
                        <a:rPr lang="en-IN" b="1"/>
                        <a:t>Delivery</a:t>
                      </a:r>
                      <a:endParaRPr lang="en-IN"/>
                    </a:p>
                    <a:p>
                      <a:pPr lvl="0"/>
                      <a:r>
                        <a:rPr lang="en-IN"/>
                        <a:t>Delivery_ID </a:t>
                      </a:r>
                    </a:p>
                    <a:p>
                      <a:pPr lvl="0"/>
                      <a:r>
                        <a:rPr lang="en-IN"/>
                        <a:t>Order ID </a:t>
                      </a:r>
                    </a:p>
                    <a:p>
                      <a:pPr lvl="0"/>
                      <a:r>
                        <a:rPr lang="en-IN" err="1"/>
                        <a:t>DeliveryDate</a:t>
                      </a:r>
                      <a:r>
                        <a:rPr lang="en-IN"/>
                        <a:t> </a:t>
                      </a:r>
                    </a:p>
                    <a:p>
                      <a:pPr lvl="0"/>
                      <a:r>
                        <a:rPr lang="en-IN"/>
                        <a:t>Status</a:t>
                      </a:r>
                    </a:p>
                    <a:p>
                      <a:endParaRPr lang="en-I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177574368"/>
                  </a:ext>
                </a:extLst>
              </a:tr>
            </a:tbl>
          </a:graphicData>
        </a:graphic>
      </p:graphicFrame>
    </p:spTree>
    <p:extLst>
      <p:ext uri="{BB962C8B-B14F-4D97-AF65-F5344CB8AC3E}">
        <p14:creationId xmlns:p14="http://schemas.microsoft.com/office/powerpoint/2010/main" val="2988063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68A4A-0F7F-3AAB-457E-C652EB39620B}"/>
              </a:ext>
            </a:extLst>
          </p:cNvPr>
          <p:cNvSpPr>
            <a:spLocks noGrp="1"/>
          </p:cNvSpPr>
          <p:nvPr>
            <p:ph type="title"/>
          </p:nvPr>
        </p:nvSpPr>
        <p:spPr>
          <a:xfrm>
            <a:off x="2910348" y="365125"/>
            <a:ext cx="8443452" cy="1325563"/>
          </a:xfrm>
        </p:spPr>
        <p:txBody>
          <a:bodyPr>
            <a:normAutofit/>
          </a:bodyPr>
          <a:lstStyle/>
          <a:p>
            <a:r>
              <a:rPr lang="en-IN" sz="4800">
                <a:solidFill>
                  <a:schemeClr val="accent1"/>
                </a:solidFill>
              </a:rPr>
              <a:t>End Users of the System</a:t>
            </a:r>
          </a:p>
        </p:txBody>
      </p:sp>
      <p:pic>
        <p:nvPicPr>
          <p:cNvPr id="5" name="Content Placeholder 4">
            <a:extLst>
              <a:ext uri="{FF2B5EF4-FFF2-40B4-BE49-F238E27FC236}">
                <a16:creationId xmlns:a16="http://schemas.microsoft.com/office/drawing/2014/main" id="{94C61627-5871-4B8A-6E7F-FD66FBAF912C}"/>
              </a:ext>
            </a:extLst>
          </p:cNvPr>
          <p:cNvPicPr>
            <a:picLocks noGrp="1" noChangeAspect="1"/>
          </p:cNvPicPr>
          <p:nvPr>
            <p:ph idx="1"/>
          </p:nvPr>
        </p:nvPicPr>
        <p:blipFill>
          <a:blip r:embed="rId2"/>
          <a:stretch>
            <a:fillRect/>
          </a:stretch>
        </p:blipFill>
        <p:spPr>
          <a:xfrm>
            <a:off x="169521" y="102524"/>
            <a:ext cx="1981372" cy="777307"/>
          </a:xfrm>
          <a:prstGeom prst="rect">
            <a:avLst/>
          </a:prstGeom>
        </p:spPr>
      </p:pic>
      <p:sp>
        <p:nvSpPr>
          <p:cNvPr id="7" name="TextBox 6">
            <a:extLst>
              <a:ext uri="{FF2B5EF4-FFF2-40B4-BE49-F238E27FC236}">
                <a16:creationId xmlns:a16="http://schemas.microsoft.com/office/drawing/2014/main" id="{ED208795-29A1-CE63-35B7-D5B009AD6E95}"/>
              </a:ext>
            </a:extLst>
          </p:cNvPr>
          <p:cNvSpPr txBox="1"/>
          <p:nvPr/>
        </p:nvSpPr>
        <p:spPr>
          <a:xfrm>
            <a:off x="1612490" y="1446299"/>
            <a:ext cx="7531510" cy="4093428"/>
          </a:xfrm>
          <a:prstGeom prst="rect">
            <a:avLst/>
          </a:prstGeom>
          <a:noFill/>
        </p:spPr>
        <p:txBody>
          <a:bodyPr wrap="square">
            <a:spAutoFit/>
          </a:bodyPr>
          <a:lstStyle/>
          <a:p>
            <a:pPr>
              <a:buNone/>
            </a:pPr>
            <a:endParaRPr lang="en-IN" sz="2000"/>
          </a:p>
          <a:p>
            <a:pPr marL="342900" lvl="0" indent="-342900">
              <a:buFont typeface="Arial" panose="020B0604020202020204" pitchFamily="34" charset="0"/>
              <a:buChar char="•"/>
            </a:pPr>
            <a:r>
              <a:rPr lang="en-IN" sz="2000"/>
              <a:t>Customers – Browse products, place orders, make payments, and track deliveries.</a:t>
            </a:r>
          </a:p>
          <a:p>
            <a:pPr marL="342900" lvl="0" indent="-342900">
              <a:buFont typeface="Arial" panose="020B0604020202020204" pitchFamily="34" charset="0"/>
              <a:buChar char="•"/>
            </a:pPr>
            <a:r>
              <a:rPr lang="en-IN" sz="2000"/>
              <a:t>Admin – Manages products, customers, orders, payments, and system activities.</a:t>
            </a:r>
          </a:p>
          <a:p>
            <a:pPr marL="342900" lvl="0" indent="-342900">
              <a:buFont typeface="Arial" panose="020B0604020202020204" pitchFamily="34" charset="0"/>
              <a:buChar char="•"/>
            </a:pPr>
            <a:r>
              <a:rPr lang="en-IN" sz="2000"/>
              <a:t>Warehouse Staff – Manages product stock, packing, and order preparation.</a:t>
            </a:r>
          </a:p>
          <a:p>
            <a:pPr marL="342900" lvl="0" indent="-342900">
              <a:buFont typeface="Arial" panose="020B0604020202020204" pitchFamily="34" charset="0"/>
              <a:buChar char="•"/>
            </a:pPr>
            <a:r>
              <a:rPr lang="en-IN" sz="2000"/>
              <a:t>Delivery Staff – Handles order delivery and updates delivery status.</a:t>
            </a:r>
          </a:p>
          <a:p>
            <a:pPr marL="342900" lvl="0" indent="-342900">
              <a:buFont typeface="Arial" panose="020B0604020202020204" pitchFamily="34" charset="0"/>
              <a:buChar char="•"/>
            </a:pPr>
            <a:r>
              <a:rPr lang="en-IN" sz="2000"/>
              <a:t>Customer Support Staff – Handles customer queries, complaints, returns, and cancellations.</a:t>
            </a:r>
          </a:p>
          <a:p>
            <a:pPr marL="342900" lvl="0" indent="-342900">
              <a:buFont typeface="Arial" panose="020B0604020202020204" pitchFamily="34" charset="0"/>
              <a:buChar char="•"/>
            </a:pPr>
            <a:r>
              <a:rPr lang="en-IN" sz="2000"/>
              <a:t>Store Manager – Monitors sales, inventory, and overall order management.</a:t>
            </a:r>
          </a:p>
        </p:txBody>
      </p:sp>
    </p:spTree>
    <p:extLst>
      <p:ext uri="{BB962C8B-B14F-4D97-AF65-F5344CB8AC3E}">
        <p14:creationId xmlns:p14="http://schemas.microsoft.com/office/powerpoint/2010/main" val="368313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A73BD6-B6E8-7733-AA2D-7EACB1ADB2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pic>
        <p:nvPicPr>
          <p:cNvPr id="6" name="Content Placeholder 4">
            <a:extLst>
              <a:ext uri="{FF2B5EF4-FFF2-40B4-BE49-F238E27FC236}">
                <a16:creationId xmlns:a16="http://schemas.microsoft.com/office/drawing/2014/main" id="{F52D3974-667A-39F9-EEF6-4085553FE796}"/>
              </a:ext>
            </a:extLst>
          </p:cNvPr>
          <p:cNvPicPr>
            <a:picLocks noChangeAspect="1"/>
          </p:cNvPicPr>
          <p:nvPr/>
        </p:nvPicPr>
        <p:blipFill>
          <a:blip r:embed="rId3"/>
          <a:stretch>
            <a:fillRect/>
          </a:stretch>
        </p:blipFill>
        <p:spPr>
          <a:xfrm>
            <a:off x="98651" y="0"/>
            <a:ext cx="1981372" cy="777307"/>
          </a:xfrm>
          <a:prstGeom prst="rect">
            <a:avLst/>
          </a:prstGeom>
        </p:spPr>
      </p:pic>
      <p:pic>
        <p:nvPicPr>
          <p:cNvPr id="3" name="Picture 2">
            <a:extLst>
              <a:ext uri="{FF2B5EF4-FFF2-40B4-BE49-F238E27FC236}">
                <a16:creationId xmlns:a16="http://schemas.microsoft.com/office/drawing/2014/main" id="{3A7396E2-31AB-F7C7-CA79-122658B0A8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53440"/>
            <a:ext cx="12192000" cy="6004560"/>
          </a:xfrm>
          <a:prstGeom prst="rect">
            <a:avLst/>
          </a:prstGeom>
        </p:spPr>
      </p:pic>
    </p:spTree>
    <p:extLst>
      <p:ext uri="{BB962C8B-B14F-4D97-AF65-F5344CB8AC3E}">
        <p14:creationId xmlns:p14="http://schemas.microsoft.com/office/powerpoint/2010/main" val="2953713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81E1AF-D438-C3B5-78EB-BB1E9629CF93}"/>
              </a:ext>
            </a:extLst>
          </p:cNvPr>
          <p:cNvSpPr txBox="1"/>
          <p:nvPr/>
        </p:nvSpPr>
        <p:spPr>
          <a:xfrm>
            <a:off x="930443" y="802103"/>
            <a:ext cx="1036319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2. SQL tables and </a:t>
            </a:r>
            <a:r>
              <a:rPr lang="en-US" b="1" dirty="0" err="1">
                <a:latin typeface="Times New Roman" panose="02020603050405020304" pitchFamily="18" charset="0"/>
                <a:cs typeface="Times New Roman" panose="02020603050405020304" pitchFamily="18" charset="0"/>
              </a:rPr>
              <a:t>attributesTable</a:t>
            </a:r>
            <a:endParaRPr lang="en-US"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482DA46-0F2B-9B81-6546-5A58C8E88696}"/>
              </a:ext>
            </a:extLst>
          </p:cNvPr>
          <p:cNvGraphicFramePr>
            <a:graphicFrameLocks noGrp="1"/>
          </p:cNvGraphicFramePr>
          <p:nvPr>
            <p:extLst>
              <p:ext uri="{D42A27DB-BD31-4B8C-83A1-F6EECF244321}">
                <p14:modId xmlns:p14="http://schemas.microsoft.com/office/powerpoint/2010/main" val="3821665900"/>
              </p:ext>
            </p:extLst>
          </p:nvPr>
        </p:nvGraphicFramePr>
        <p:xfrm>
          <a:off x="945573" y="1483122"/>
          <a:ext cx="10500470" cy="4297680"/>
        </p:xfrm>
        <a:graphic>
          <a:graphicData uri="http://schemas.openxmlformats.org/drawingml/2006/table">
            <a:tbl>
              <a:tblPr>
                <a:tableStyleId>{5C22544A-7EE6-4342-B048-85BDC9FD1C3A}</a:tableStyleId>
              </a:tblPr>
              <a:tblGrid>
                <a:gridCol w="5242670">
                  <a:extLst>
                    <a:ext uri="{9D8B030D-6E8A-4147-A177-3AD203B41FA5}">
                      <a16:colId xmlns:a16="http://schemas.microsoft.com/office/drawing/2014/main" val="1024395296"/>
                    </a:ext>
                  </a:extLst>
                </a:gridCol>
                <a:gridCol w="5257800">
                  <a:extLst>
                    <a:ext uri="{9D8B030D-6E8A-4147-A177-3AD203B41FA5}">
                      <a16:colId xmlns:a16="http://schemas.microsoft.com/office/drawing/2014/main" val="3133264850"/>
                    </a:ext>
                  </a:extLst>
                </a:gridCol>
              </a:tblGrid>
              <a:tr h="0">
                <a:tc>
                  <a:txBody>
                    <a:bodyPr/>
                    <a:lstStyle/>
                    <a:p>
                      <a:pPr>
                        <a:buNone/>
                      </a:pPr>
                      <a:r>
                        <a:rPr lang="en-IN" b="1" dirty="0"/>
                        <a:t>Table</a:t>
                      </a:r>
                    </a:p>
                  </a:txBody>
                  <a:tcPr anchor="ctr"/>
                </a:tc>
                <a:tc>
                  <a:txBody>
                    <a:bodyPr/>
                    <a:lstStyle/>
                    <a:p>
                      <a:pPr>
                        <a:buNone/>
                      </a:pPr>
                      <a:r>
                        <a:rPr lang="en-IN" b="1" dirty="0"/>
                        <a:t>Attributes</a:t>
                      </a:r>
                    </a:p>
                  </a:txBody>
                  <a:tcPr anchor="ctr"/>
                </a:tc>
                <a:extLst>
                  <a:ext uri="{0D108BD9-81ED-4DB2-BD59-A6C34878D82A}">
                    <a16:rowId xmlns:a16="http://schemas.microsoft.com/office/drawing/2014/main" val="578711391"/>
                  </a:ext>
                </a:extLst>
              </a:tr>
              <a:tr h="0">
                <a:tc>
                  <a:txBody>
                    <a:bodyPr/>
                    <a:lstStyle/>
                    <a:p>
                      <a:pPr>
                        <a:buNone/>
                      </a:pPr>
                      <a:r>
                        <a:rPr lang="en-IN" dirty="0"/>
                        <a:t>CUSTOMER</a:t>
                      </a:r>
                    </a:p>
                  </a:txBody>
                  <a:tcPr anchor="ctr"/>
                </a:tc>
                <a:tc>
                  <a:txBody>
                    <a:bodyPr/>
                    <a:lstStyle/>
                    <a:p>
                      <a:pPr>
                        <a:buNone/>
                      </a:pPr>
                      <a:r>
                        <a:rPr lang="en-IN"/>
                        <a:t>Customer_ID (PK), Name, Email, Phone, Address</a:t>
                      </a:r>
                    </a:p>
                  </a:txBody>
                  <a:tcPr anchor="ctr"/>
                </a:tc>
                <a:extLst>
                  <a:ext uri="{0D108BD9-81ED-4DB2-BD59-A6C34878D82A}">
                    <a16:rowId xmlns:a16="http://schemas.microsoft.com/office/drawing/2014/main" val="3246485039"/>
                  </a:ext>
                </a:extLst>
              </a:tr>
              <a:tr h="0">
                <a:tc>
                  <a:txBody>
                    <a:bodyPr/>
                    <a:lstStyle/>
                    <a:p>
                      <a:pPr>
                        <a:buNone/>
                      </a:pPr>
                      <a:r>
                        <a:rPr lang="en-IN" dirty="0"/>
                        <a:t>CATEGORY</a:t>
                      </a:r>
                    </a:p>
                  </a:txBody>
                  <a:tcPr anchor="ctr"/>
                </a:tc>
                <a:tc>
                  <a:txBody>
                    <a:bodyPr/>
                    <a:lstStyle/>
                    <a:p>
                      <a:pPr>
                        <a:buNone/>
                      </a:pPr>
                      <a:r>
                        <a:rPr lang="en-IN" dirty="0" err="1"/>
                        <a:t>Category_ID</a:t>
                      </a:r>
                      <a:r>
                        <a:rPr lang="en-IN" dirty="0"/>
                        <a:t> (PK), Name, Description</a:t>
                      </a:r>
                    </a:p>
                  </a:txBody>
                  <a:tcPr anchor="ctr"/>
                </a:tc>
                <a:extLst>
                  <a:ext uri="{0D108BD9-81ED-4DB2-BD59-A6C34878D82A}">
                    <a16:rowId xmlns:a16="http://schemas.microsoft.com/office/drawing/2014/main" val="3542199998"/>
                  </a:ext>
                </a:extLst>
              </a:tr>
              <a:tr h="0">
                <a:tc>
                  <a:txBody>
                    <a:bodyPr/>
                    <a:lstStyle/>
                    <a:p>
                      <a:pPr>
                        <a:buNone/>
                      </a:pPr>
                      <a:r>
                        <a:rPr lang="en-IN"/>
                        <a:t>PRODUCT</a:t>
                      </a:r>
                    </a:p>
                  </a:txBody>
                  <a:tcPr anchor="ctr"/>
                </a:tc>
                <a:tc>
                  <a:txBody>
                    <a:bodyPr/>
                    <a:lstStyle/>
                    <a:p>
                      <a:pPr>
                        <a:buNone/>
                      </a:pPr>
                      <a:r>
                        <a:rPr lang="en-IN"/>
                        <a:t>Product_ID (PK), Name, Price, Stock, Category_ID (FK)</a:t>
                      </a:r>
                    </a:p>
                  </a:txBody>
                  <a:tcPr anchor="ctr"/>
                </a:tc>
                <a:extLst>
                  <a:ext uri="{0D108BD9-81ED-4DB2-BD59-A6C34878D82A}">
                    <a16:rowId xmlns:a16="http://schemas.microsoft.com/office/drawing/2014/main" val="4148013605"/>
                  </a:ext>
                </a:extLst>
              </a:tr>
              <a:tr h="0">
                <a:tc>
                  <a:txBody>
                    <a:bodyPr/>
                    <a:lstStyle/>
                    <a:p>
                      <a:pPr>
                        <a:buNone/>
                      </a:pPr>
                      <a:r>
                        <a:rPr lang="en-IN" dirty="0"/>
                        <a:t>ORDERS</a:t>
                      </a:r>
                    </a:p>
                  </a:txBody>
                  <a:tcPr anchor="ctr"/>
                </a:tc>
                <a:tc>
                  <a:txBody>
                    <a:bodyPr/>
                    <a:lstStyle/>
                    <a:p>
                      <a:pPr>
                        <a:buNone/>
                      </a:pPr>
                      <a:r>
                        <a:rPr lang="en-IN"/>
                        <a:t>Order_ID (PK), Customer_ID (FK), OrderDate, TotalAmount</a:t>
                      </a:r>
                    </a:p>
                  </a:txBody>
                  <a:tcPr anchor="ctr"/>
                </a:tc>
                <a:extLst>
                  <a:ext uri="{0D108BD9-81ED-4DB2-BD59-A6C34878D82A}">
                    <a16:rowId xmlns:a16="http://schemas.microsoft.com/office/drawing/2014/main" val="1679506984"/>
                  </a:ext>
                </a:extLst>
              </a:tr>
              <a:tr h="0">
                <a:tc>
                  <a:txBody>
                    <a:bodyPr/>
                    <a:lstStyle/>
                    <a:p>
                      <a:pPr>
                        <a:buNone/>
                      </a:pPr>
                      <a:r>
                        <a:rPr lang="en-IN"/>
                        <a:t>ORDER_DETAILS</a:t>
                      </a:r>
                    </a:p>
                  </a:txBody>
                  <a:tcPr anchor="ctr"/>
                </a:tc>
                <a:tc>
                  <a:txBody>
                    <a:bodyPr/>
                    <a:lstStyle/>
                    <a:p>
                      <a:pPr>
                        <a:buNone/>
                      </a:pPr>
                      <a:r>
                        <a:rPr lang="en-IN"/>
                        <a:t>Order_Detail_ID (PK), Order_ID (FK), Product_ID (FK), Quantity, UnitPrice</a:t>
                      </a:r>
                    </a:p>
                  </a:txBody>
                  <a:tcPr anchor="ctr"/>
                </a:tc>
                <a:extLst>
                  <a:ext uri="{0D108BD9-81ED-4DB2-BD59-A6C34878D82A}">
                    <a16:rowId xmlns:a16="http://schemas.microsoft.com/office/drawing/2014/main" val="2802076305"/>
                  </a:ext>
                </a:extLst>
              </a:tr>
              <a:tr h="0">
                <a:tc>
                  <a:txBody>
                    <a:bodyPr/>
                    <a:lstStyle/>
                    <a:p>
                      <a:pPr>
                        <a:buNone/>
                      </a:pPr>
                      <a:r>
                        <a:rPr lang="en-IN"/>
                        <a:t>PAYMENT</a:t>
                      </a:r>
                    </a:p>
                  </a:txBody>
                  <a:tcPr anchor="ctr"/>
                </a:tc>
                <a:tc>
                  <a:txBody>
                    <a:bodyPr/>
                    <a:lstStyle/>
                    <a:p>
                      <a:pPr>
                        <a:buNone/>
                      </a:pPr>
                      <a:r>
                        <a:rPr lang="en-IN"/>
                        <a:t>Payment_ID (PK), Order_ID (FK), Amount, PaymentMethod, PaymentDate, PaymentStatus</a:t>
                      </a:r>
                    </a:p>
                  </a:txBody>
                  <a:tcPr anchor="ctr"/>
                </a:tc>
                <a:extLst>
                  <a:ext uri="{0D108BD9-81ED-4DB2-BD59-A6C34878D82A}">
                    <a16:rowId xmlns:a16="http://schemas.microsoft.com/office/drawing/2014/main" val="2392187808"/>
                  </a:ext>
                </a:extLst>
              </a:tr>
              <a:tr h="0">
                <a:tc>
                  <a:txBody>
                    <a:bodyPr/>
                    <a:lstStyle/>
                    <a:p>
                      <a:pPr>
                        <a:buNone/>
                      </a:pPr>
                      <a:r>
                        <a:rPr lang="en-IN"/>
                        <a:t>REVIEW</a:t>
                      </a:r>
                    </a:p>
                  </a:txBody>
                  <a:tcPr anchor="ctr"/>
                </a:tc>
                <a:tc>
                  <a:txBody>
                    <a:bodyPr/>
                    <a:lstStyle/>
                    <a:p>
                      <a:pPr>
                        <a:buNone/>
                      </a:pPr>
                      <a:r>
                        <a:rPr lang="en-IN" dirty="0" err="1"/>
                        <a:t>Review_ID</a:t>
                      </a:r>
                      <a:r>
                        <a:rPr lang="en-IN" dirty="0"/>
                        <a:t> (PK), </a:t>
                      </a:r>
                      <a:r>
                        <a:rPr lang="en-IN" dirty="0" err="1"/>
                        <a:t>Customer_ID</a:t>
                      </a:r>
                      <a:r>
                        <a:rPr lang="en-IN" dirty="0"/>
                        <a:t> (FK), </a:t>
                      </a:r>
                      <a:r>
                        <a:rPr lang="en-IN" dirty="0" err="1"/>
                        <a:t>Product_ID</a:t>
                      </a:r>
                      <a:r>
                        <a:rPr lang="en-IN" dirty="0"/>
                        <a:t> (FK), Rating, </a:t>
                      </a:r>
                      <a:r>
                        <a:rPr lang="en-IN" dirty="0" err="1"/>
                        <a:t>CommentText</a:t>
                      </a:r>
                      <a:r>
                        <a:rPr lang="en-IN" dirty="0"/>
                        <a:t>, </a:t>
                      </a:r>
                      <a:r>
                        <a:rPr lang="en-IN" dirty="0" err="1"/>
                        <a:t>ReviewDate</a:t>
                      </a:r>
                      <a:endParaRPr lang="en-IN" dirty="0"/>
                    </a:p>
                  </a:txBody>
                  <a:tcPr anchor="ctr"/>
                </a:tc>
                <a:extLst>
                  <a:ext uri="{0D108BD9-81ED-4DB2-BD59-A6C34878D82A}">
                    <a16:rowId xmlns:a16="http://schemas.microsoft.com/office/drawing/2014/main" val="2136735650"/>
                  </a:ext>
                </a:extLst>
              </a:tr>
            </a:tbl>
          </a:graphicData>
        </a:graphic>
      </p:graphicFrame>
      <p:pic>
        <p:nvPicPr>
          <p:cNvPr id="4" name="Content Placeholder 4">
            <a:extLst>
              <a:ext uri="{FF2B5EF4-FFF2-40B4-BE49-F238E27FC236}">
                <a16:creationId xmlns:a16="http://schemas.microsoft.com/office/drawing/2014/main" id="{28DDFE93-1B38-AA05-E7DE-3DB76FCAE646}"/>
              </a:ext>
            </a:extLst>
          </p:cNvPr>
          <p:cNvPicPr>
            <a:picLocks noChangeAspect="1"/>
          </p:cNvPicPr>
          <p:nvPr/>
        </p:nvPicPr>
        <p:blipFill>
          <a:blip r:embed="rId2"/>
          <a:stretch>
            <a:fillRect/>
          </a:stretch>
        </p:blipFill>
        <p:spPr>
          <a:xfrm>
            <a:off x="122637" y="24796"/>
            <a:ext cx="1981372" cy="777307"/>
          </a:xfrm>
          <a:prstGeom prst="rect">
            <a:avLst/>
          </a:prstGeom>
        </p:spPr>
      </p:pic>
    </p:spTree>
    <p:extLst>
      <p:ext uri="{BB962C8B-B14F-4D97-AF65-F5344CB8AC3E}">
        <p14:creationId xmlns:p14="http://schemas.microsoft.com/office/powerpoint/2010/main" val="718600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65255D-5DF0-E2A9-8C0F-F5DD301CD128}"/>
              </a:ext>
            </a:extLst>
          </p:cNvPr>
          <p:cNvSpPr txBox="1"/>
          <p:nvPr/>
        </p:nvSpPr>
        <p:spPr>
          <a:xfrm>
            <a:off x="780181" y="763463"/>
            <a:ext cx="6096000" cy="369332"/>
          </a:xfrm>
          <a:prstGeom prst="rect">
            <a:avLst/>
          </a:prstGeom>
          <a:noFill/>
        </p:spPr>
        <p:txBody>
          <a:bodyPr wrap="square">
            <a:spAutoFit/>
          </a:bodyPr>
          <a:lstStyle/>
          <a:p>
            <a:r>
              <a:rPr lang="en-US" sz="1800" b="1" dirty="0"/>
              <a:t>Create tables in Oracle:</a:t>
            </a:r>
          </a:p>
        </p:txBody>
      </p:sp>
      <p:sp>
        <p:nvSpPr>
          <p:cNvPr id="8" name="TextBox 7">
            <a:extLst>
              <a:ext uri="{FF2B5EF4-FFF2-40B4-BE49-F238E27FC236}">
                <a16:creationId xmlns:a16="http://schemas.microsoft.com/office/drawing/2014/main" id="{1F26F409-14AE-F4E8-03D2-9FC89E349E3E}"/>
              </a:ext>
            </a:extLst>
          </p:cNvPr>
          <p:cNvSpPr txBox="1"/>
          <p:nvPr/>
        </p:nvSpPr>
        <p:spPr>
          <a:xfrm>
            <a:off x="625642" y="1036893"/>
            <a:ext cx="11261557" cy="369332"/>
          </a:xfrm>
          <a:prstGeom prst="rect">
            <a:avLst/>
          </a:prstGeom>
          <a:noFill/>
        </p:spPr>
        <p:txBody>
          <a:bodyPr wrap="square" rtlCol="0">
            <a:spAutoFit/>
          </a:bodyPr>
          <a:lstStyle/>
          <a:p>
            <a:r>
              <a:rPr lang="en-IN" dirty="0"/>
              <a:t>  </a:t>
            </a:r>
            <a:r>
              <a:rPr lang="en-IN" b="1" dirty="0"/>
              <a:t>1.customer</a:t>
            </a:r>
          </a:p>
        </p:txBody>
      </p:sp>
      <p:sp>
        <p:nvSpPr>
          <p:cNvPr id="14" name="TextBox 13">
            <a:extLst>
              <a:ext uri="{FF2B5EF4-FFF2-40B4-BE49-F238E27FC236}">
                <a16:creationId xmlns:a16="http://schemas.microsoft.com/office/drawing/2014/main" id="{A0F03398-EDCB-2E92-0513-2303F2F502EC}"/>
              </a:ext>
            </a:extLst>
          </p:cNvPr>
          <p:cNvSpPr txBox="1"/>
          <p:nvPr/>
        </p:nvSpPr>
        <p:spPr>
          <a:xfrm>
            <a:off x="930442" y="3739807"/>
            <a:ext cx="1318053" cy="369332"/>
          </a:xfrm>
          <a:prstGeom prst="rect">
            <a:avLst/>
          </a:prstGeom>
          <a:noFill/>
        </p:spPr>
        <p:txBody>
          <a:bodyPr wrap="none" rtlCol="0">
            <a:spAutoFit/>
          </a:bodyPr>
          <a:lstStyle/>
          <a:p>
            <a:r>
              <a:rPr lang="en-IN" b="1" dirty="0"/>
              <a:t>2.Category</a:t>
            </a:r>
          </a:p>
        </p:txBody>
      </p:sp>
      <p:pic>
        <p:nvPicPr>
          <p:cNvPr id="15" name="Content Placeholder 4">
            <a:extLst>
              <a:ext uri="{FF2B5EF4-FFF2-40B4-BE49-F238E27FC236}">
                <a16:creationId xmlns:a16="http://schemas.microsoft.com/office/drawing/2014/main" id="{4FC905B2-7FDF-8256-F934-53867C72C8D7}"/>
              </a:ext>
            </a:extLst>
          </p:cNvPr>
          <p:cNvPicPr>
            <a:picLocks noChangeAspect="1"/>
          </p:cNvPicPr>
          <p:nvPr/>
        </p:nvPicPr>
        <p:blipFill>
          <a:blip r:embed="rId3"/>
          <a:stretch>
            <a:fillRect/>
          </a:stretch>
        </p:blipFill>
        <p:spPr>
          <a:xfrm>
            <a:off x="0" y="-13844"/>
            <a:ext cx="1981372" cy="777307"/>
          </a:xfrm>
          <a:prstGeom prst="rect">
            <a:avLst/>
          </a:prstGeom>
        </p:spPr>
      </p:pic>
      <p:sp>
        <p:nvSpPr>
          <p:cNvPr id="5" name="TextBox 4">
            <a:extLst>
              <a:ext uri="{FF2B5EF4-FFF2-40B4-BE49-F238E27FC236}">
                <a16:creationId xmlns:a16="http://schemas.microsoft.com/office/drawing/2014/main" id="{1E9765FF-DB38-D636-F16C-7B10A94D1B85}"/>
              </a:ext>
            </a:extLst>
          </p:cNvPr>
          <p:cNvSpPr txBox="1"/>
          <p:nvPr/>
        </p:nvSpPr>
        <p:spPr>
          <a:xfrm>
            <a:off x="930442" y="1540770"/>
            <a:ext cx="6096000" cy="2031325"/>
          </a:xfrm>
          <a:prstGeom prst="rect">
            <a:avLst/>
          </a:prstGeom>
          <a:noFill/>
        </p:spPr>
        <p:txBody>
          <a:bodyPr wrap="square">
            <a:spAutoFit/>
          </a:bodyPr>
          <a:lstStyle/>
          <a:p>
            <a:r>
              <a:rPr lang="en-IN" dirty="0"/>
              <a:t>CREATE TABLE Customer (</a:t>
            </a:r>
          </a:p>
          <a:p>
            <a:r>
              <a:rPr lang="en-IN" dirty="0"/>
              <a:t>    </a:t>
            </a:r>
            <a:r>
              <a:rPr lang="en-IN" dirty="0" err="1"/>
              <a:t>Customer_ID</a:t>
            </a:r>
            <a:r>
              <a:rPr lang="en-IN" dirty="0"/>
              <a:t> NUMBER(5) PRIMARY KEY,</a:t>
            </a:r>
          </a:p>
          <a:p>
            <a:r>
              <a:rPr lang="en-IN" dirty="0"/>
              <a:t>    Name VARCHAR2(50) NOT NULL,</a:t>
            </a:r>
          </a:p>
          <a:p>
            <a:r>
              <a:rPr lang="en-IN" dirty="0"/>
              <a:t>    Email VARCHAR2(100) UNIQUE NOT NULL,</a:t>
            </a:r>
          </a:p>
          <a:p>
            <a:r>
              <a:rPr lang="en-IN" dirty="0"/>
              <a:t>    Phone VARCHAR2(15),</a:t>
            </a:r>
          </a:p>
          <a:p>
            <a:r>
              <a:rPr lang="en-IN" dirty="0"/>
              <a:t>    Address VARCHAR2(100)</a:t>
            </a:r>
          </a:p>
          <a:p>
            <a:r>
              <a:rPr lang="en-IN" dirty="0"/>
              <a:t>);</a:t>
            </a:r>
          </a:p>
        </p:txBody>
      </p:sp>
      <p:sp>
        <p:nvSpPr>
          <p:cNvPr id="9" name="TextBox 8">
            <a:extLst>
              <a:ext uri="{FF2B5EF4-FFF2-40B4-BE49-F238E27FC236}">
                <a16:creationId xmlns:a16="http://schemas.microsoft.com/office/drawing/2014/main" id="{326D9AC9-D896-9257-38D5-34849CAD5AFE}"/>
              </a:ext>
            </a:extLst>
          </p:cNvPr>
          <p:cNvSpPr txBox="1"/>
          <p:nvPr/>
        </p:nvSpPr>
        <p:spPr>
          <a:xfrm>
            <a:off x="990686" y="4276851"/>
            <a:ext cx="6096000" cy="1477328"/>
          </a:xfrm>
          <a:prstGeom prst="rect">
            <a:avLst/>
          </a:prstGeom>
          <a:noFill/>
        </p:spPr>
        <p:txBody>
          <a:bodyPr wrap="square">
            <a:spAutoFit/>
          </a:bodyPr>
          <a:lstStyle/>
          <a:p>
            <a:r>
              <a:rPr lang="en-IN" dirty="0"/>
              <a:t>CREATE TABLE Category (</a:t>
            </a:r>
          </a:p>
          <a:p>
            <a:r>
              <a:rPr lang="en-IN" dirty="0"/>
              <a:t>    </a:t>
            </a:r>
            <a:r>
              <a:rPr lang="en-IN" dirty="0" err="1"/>
              <a:t>Category_ID</a:t>
            </a:r>
            <a:r>
              <a:rPr lang="en-IN" dirty="0"/>
              <a:t> NUMBER(5) PRIMARY KEY,</a:t>
            </a:r>
          </a:p>
          <a:p>
            <a:r>
              <a:rPr lang="en-IN" dirty="0"/>
              <a:t>    Name VARCHAR2(50) NOT NULL,</a:t>
            </a:r>
          </a:p>
          <a:p>
            <a:r>
              <a:rPr lang="en-IN" dirty="0"/>
              <a:t>    Description VARCHAR2(100)</a:t>
            </a:r>
          </a:p>
          <a:p>
            <a:r>
              <a:rPr lang="en-IN" dirty="0"/>
              <a:t>);</a:t>
            </a:r>
          </a:p>
        </p:txBody>
      </p:sp>
    </p:spTree>
    <p:extLst>
      <p:ext uri="{BB962C8B-B14F-4D97-AF65-F5344CB8AC3E}">
        <p14:creationId xmlns:p14="http://schemas.microsoft.com/office/powerpoint/2010/main" val="1176931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9D1D9A-2D55-E6B1-B369-8FA2A0D8360E}"/>
              </a:ext>
            </a:extLst>
          </p:cNvPr>
          <p:cNvSpPr txBox="1"/>
          <p:nvPr/>
        </p:nvSpPr>
        <p:spPr>
          <a:xfrm>
            <a:off x="449179" y="1291036"/>
            <a:ext cx="2651760" cy="369332"/>
          </a:xfrm>
          <a:prstGeom prst="rect">
            <a:avLst/>
          </a:prstGeom>
          <a:noFill/>
        </p:spPr>
        <p:txBody>
          <a:bodyPr wrap="square" rtlCol="0">
            <a:spAutoFit/>
          </a:bodyPr>
          <a:lstStyle/>
          <a:p>
            <a:r>
              <a:rPr lang="en-IN" b="1" dirty="0"/>
              <a:t>3.Product</a:t>
            </a:r>
          </a:p>
        </p:txBody>
      </p:sp>
      <p:sp>
        <p:nvSpPr>
          <p:cNvPr id="7" name="TextBox 6">
            <a:extLst>
              <a:ext uri="{FF2B5EF4-FFF2-40B4-BE49-F238E27FC236}">
                <a16:creationId xmlns:a16="http://schemas.microsoft.com/office/drawing/2014/main" id="{8ACA6214-7D4C-736C-5A70-5822D0E405E7}"/>
              </a:ext>
            </a:extLst>
          </p:cNvPr>
          <p:cNvSpPr txBox="1"/>
          <p:nvPr/>
        </p:nvSpPr>
        <p:spPr>
          <a:xfrm>
            <a:off x="5695819" y="1291036"/>
            <a:ext cx="1991360" cy="369332"/>
          </a:xfrm>
          <a:prstGeom prst="rect">
            <a:avLst/>
          </a:prstGeom>
          <a:noFill/>
        </p:spPr>
        <p:txBody>
          <a:bodyPr wrap="square" rtlCol="0">
            <a:spAutoFit/>
          </a:bodyPr>
          <a:lstStyle/>
          <a:p>
            <a:r>
              <a:rPr lang="en-IN" b="1" dirty="0"/>
              <a:t>4.orders</a:t>
            </a:r>
          </a:p>
        </p:txBody>
      </p:sp>
      <p:pic>
        <p:nvPicPr>
          <p:cNvPr id="8" name="Content Placeholder 4">
            <a:extLst>
              <a:ext uri="{FF2B5EF4-FFF2-40B4-BE49-F238E27FC236}">
                <a16:creationId xmlns:a16="http://schemas.microsoft.com/office/drawing/2014/main" id="{D9240945-D69D-570A-3A4F-7E0A63475275}"/>
              </a:ext>
            </a:extLst>
          </p:cNvPr>
          <p:cNvPicPr>
            <a:picLocks noChangeAspect="1"/>
          </p:cNvPicPr>
          <p:nvPr/>
        </p:nvPicPr>
        <p:blipFill>
          <a:blip r:embed="rId2"/>
          <a:stretch>
            <a:fillRect/>
          </a:stretch>
        </p:blipFill>
        <p:spPr>
          <a:xfrm>
            <a:off x="0" y="8952"/>
            <a:ext cx="1981372" cy="777307"/>
          </a:xfrm>
          <a:prstGeom prst="rect">
            <a:avLst/>
          </a:prstGeom>
        </p:spPr>
      </p:pic>
      <p:sp>
        <p:nvSpPr>
          <p:cNvPr id="4" name="TextBox 3">
            <a:extLst>
              <a:ext uri="{FF2B5EF4-FFF2-40B4-BE49-F238E27FC236}">
                <a16:creationId xmlns:a16="http://schemas.microsoft.com/office/drawing/2014/main" id="{73269EE4-E317-45BF-E9D9-11C926113F55}"/>
              </a:ext>
            </a:extLst>
          </p:cNvPr>
          <p:cNvSpPr txBox="1"/>
          <p:nvPr/>
        </p:nvSpPr>
        <p:spPr>
          <a:xfrm>
            <a:off x="449179" y="1892615"/>
            <a:ext cx="6096000" cy="2862322"/>
          </a:xfrm>
          <a:prstGeom prst="rect">
            <a:avLst/>
          </a:prstGeom>
          <a:noFill/>
        </p:spPr>
        <p:txBody>
          <a:bodyPr wrap="square">
            <a:spAutoFit/>
          </a:bodyPr>
          <a:lstStyle/>
          <a:p>
            <a:r>
              <a:rPr lang="en-IN" dirty="0"/>
              <a:t>CREATE TABLE Product (</a:t>
            </a:r>
          </a:p>
          <a:p>
            <a:r>
              <a:rPr lang="en-IN" dirty="0"/>
              <a:t>    </a:t>
            </a:r>
            <a:r>
              <a:rPr lang="en-IN" dirty="0" err="1"/>
              <a:t>Product_ID</a:t>
            </a:r>
            <a:r>
              <a:rPr lang="en-IN" dirty="0"/>
              <a:t> NUMBER(5) PRIMARY KEY,</a:t>
            </a:r>
          </a:p>
          <a:p>
            <a:r>
              <a:rPr lang="en-IN" dirty="0"/>
              <a:t>    Name VARCHAR2(50) NOT NULL,</a:t>
            </a:r>
          </a:p>
          <a:p>
            <a:r>
              <a:rPr lang="en-IN" dirty="0"/>
              <a:t>    Price NUMBER(10,2) CHECK (Price &gt; 0),</a:t>
            </a:r>
          </a:p>
          <a:p>
            <a:r>
              <a:rPr lang="en-IN" dirty="0"/>
              <a:t>    Stock NUMBER(5) CHECK (Stock &gt;= 0),</a:t>
            </a:r>
          </a:p>
          <a:p>
            <a:r>
              <a:rPr lang="en-IN" dirty="0"/>
              <a:t>    </a:t>
            </a:r>
            <a:r>
              <a:rPr lang="en-IN" dirty="0" err="1"/>
              <a:t>Category_ID</a:t>
            </a:r>
            <a:r>
              <a:rPr lang="en-IN" dirty="0"/>
              <a:t> NUMBER(5),</a:t>
            </a:r>
          </a:p>
          <a:p>
            <a:r>
              <a:rPr lang="en-IN" dirty="0"/>
              <a:t>    CONSTRAINT </a:t>
            </a:r>
            <a:r>
              <a:rPr lang="en-IN" dirty="0" err="1"/>
              <a:t>fk_product_category</a:t>
            </a:r>
            <a:endParaRPr lang="en-IN" dirty="0"/>
          </a:p>
          <a:p>
            <a:r>
              <a:rPr lang="en-IN" dirty="0"/>
              <a:t>        FOREIGN KEY (</a:t>
            </a:r>
            <a:r>
              <a:rPr lang="en-IN" dirty="0" err="1"/>
              <a:t>Category_ID</a:t>
            </a:r>
            <a:r>
              <a:rPr lang="en-IN" dirty="0"/>
              <a:t>)</a:t>
            </a:r>
          </a:p>
          <a:p>
            <a:r>
              <a:rPr lang="en-IN" dirty="0"/>
              <a:t>        REFERENCES Category(</a:t>
            </a:r>
            <a:r>
              <a:rPr lang="en-IN" dirty="0" err="1"/>
              <a:t>Category_ID</a:t>
            </a:r>
            <a:r>
              <a:rPr lang="en-IN" dirty="0"/>
              <a:t>)</a:t>
            </a:r>
          </a:p>
          <a:p>
            <a:r>
              <a:rPr lang="en-IN" dirty="0"/>
              <a:t>);</a:t>
            </a:r>
          </a:p>
        </p:txBody>
      </p:sp>
      <p:sp>
        <p:nvSpPr>
          <p:cNvPr id="10" name="TextBox 9">
            <a:extLst>
              <a:ext uri="{FF2B5EF4-FFF2-40B4-BE49-F238E27FC236}">
                <a16:creationId xmlns:a16="http://schemas.microsoft.com/office/drawing/2014/main" id="{04896120-6167-A5F5-E319-C67D99FB453F}"/>
              </a:ext>
            </a:extLst>
          </p:cNvPr>
          <p:cNvSpPr txBox="1"/>
          <p:nvPr/>
        </p:nvSpPr>
        <p:spPr>
          <a:xfrm>
            <a:off x="5646821" y="1892615"/>
            <a:ext cx="6096000" cy="2585323"/>
          </a:xfrm>
          <a:prstGeom prst="rect">
            <a:avLst/>
          </a:prstGeom>
          <a:noFill/>
        </p:spPr>
        <p:txBody>
          <a:bodyPr wrap="square">
            <a:spAutoFit/>
          </a:bodyPr>
          <a:lstStyle/>
          <a:p>
            <a:r>
              <a:rPr lang="en-IN" dirty="0"/>
              <a:t>CREATE TABLE Orders (</a:t>
            </a:r>
          </a:p>
          <a:p>
            <a:r>
              <a:rPr lang="en-IN" dirty="0"/>
              <a:t>    </a:t>
            </a:r>
            <a:r>
              <a:rPr lang="en-IN" dirty="0" err="1"/>
              <a:t>Order_ID</a:t>
            </a:r>
            <a:r>
              <a:rPr lang="en-IN" dirty="0"/>
              <a:t> NUMBER(5) PRIMARY KEY,</a:t>
            </a:r>
          </a:p>
          <a:p>
            <a:r>
              <a:rPr lang="en-IN" dirty="0"/>
              <a:t>    </a:t>
            </a:r>
            <a:r>
              <a:rPr lang="en-IN" dirty="0" err="1"/>
              <a:t>Customer_ID</a:t>
            </a:r>
            <a:r>
              <a:rPr lang="en-IN" dirty="0"/>
              <a:t> NUMBER(5),</a:t>
            </a:r>
          </a:p>
          <a:p>
            <a:r>
              <a:rPr lang="en-IN" dirty="0"/>
              <a:t>    </a:t>
            </a:r>
            <a:r>
              <a:rPr lang="en-IN" dirty="0" err="1"/>
              <a:t>OrderDate</a:t>
            </a:r>
            <a:r>
              <a:rPr lang="en-IN" dirty="0"/>
              <a:t> DATE NOT NULL,</a:t>
            </a:r>
          </a:p>
          <a:p>
            <a:r>
              <a:rPr lang="en-IN" dirty="0"/>
              <a:t>    </a:t>
            </a:r>
            <a:r>
              <a:rPr lang="en-IN" dirty="0" err="1"/>
              <a:t>TotalAmount</a:t>
            </a:r>
            <a:r>
              <a:rPr lang="en-IN" dirty="0"/>
              <a:t> NUMBER(10,2) CHECK (</a:t>
            </a:r>
            <a:r>
              <a:rPr lang="en-IN" dirty="0" err="1"/>
              <a:t>TotalAmount</a:t>
            </a:r>
            <a:r>
              <a:rPr lang="en-IN" dirty="0"/>
              <a:t> &gt;= 0),</a:t>
            </a:r>
          </a:p>
          <a:p>
            <a:r>
              <a:rPr lang="en-IN" dirty="0"/>
              <a:t>    CONSTRAINT </a:t>
            </a:r>
            <a:r>
              <a:rPr lang="en-IN" dirty="0" err="1"/>
              <a:t>fk_order_customer</a:t>
            </a:r>
            <a:endParaRPr lang="en-IN" dirty="0"/>
          </a:p>
          <a:p>
            <a:r>
              <a:rPr lang="en-IN" dirty="0"/>
              <a:t>        FOREIGN KEY (</a:t>
            </a:r>
            <a:r>
              <a:rPr lang="en-IN" dirty="0" err="1"/>
              <a:t>Customer_ID</a:t>
            </a:r>
            <a:r>
              <a:rPr lang="en-IN" dirty="0"/>
              <a:t>)</a:t>
            </a:r>
          </a:p>
          <a:p>
            <a:r>
              <a:rPr lang="en-IN" dirty="0"/>
              <a:t>        REFERENCES Customer(</a:t>
            </a:r>
            <a:r>
              <a:rPr lang="en-IN" dirty="0" err="1"/>
              <a:t>Customer_ID</a:t>
            </a:r>
            <a:r>
              <a:rPr lang="en-IN" dirty="0"/>
              <a:t>)</a:t>
            </a:r>
          </a:p>
          <a:p>
            <a:r>
              <a:rPr lang="en-IN" dirty="0"/>
              <a:t>);</a:t>
            </a:r>
          </a:p>
        </p:txBody>
      </p:sp>
    </p:spTree>
    <p:extLst>
      <p:ext uri="{BB962C8B-B14F-4D97-AF65-F5344CB8AC3E}">
        <p14:creationId xmlns:p14="http://schemas.microsoft.com/office/powerpoint/2010/main" val="2016149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D188EC7-DC53-CF72-DDE9-24121FA14DBA}"/>
              </a:ext>
            </a:extLst>
          </p:cNvPr>
          <p:cNvSpPr txBox="1"/>
          <p:nvPr/>
        </p:nvSpPr>
        <p:spPr>
          <a:xfrm>
            <a:off x="555780" y="1219861"/>
            <a:ext cx="4297680" cy="369332"/>
          </a:xfrm>
          <a:prstGeom prst="rect">
            <a:avLst/>
          </a:prstGeom>
          <a:noFill/>
        </p:spPr>
        <p:txBody>
          <a:bodyPr wrap="square" rtlCol="0">
            <a:spAutoFit/>
          </a:bodyPr>
          <a:lstStyle/>
          <a:p>
            <a:r>
              <a:rPr lang="en-IN" b="1" dirty="0"/>
              <a:t>5.Order Details</a:t>
            </a:r>
          </a:p>
        </p:txBody>
      </p:sp>
      <p:sp>
        <p:nvSpPr>
          <p:cNvPr id="8" name="TextBox 7">
            <a:extLst>
              <a:ext uri="{FF2B5EF4-FFF2-40B4-BE49-F238E27FC236}">
                <a16:creationId xmlns:a16="http://schemas.microsoft.com/office/drawing/2014/main" id="{E9C87A98-75ED-4887-B947-7EF034638EC0}"/>
              </a:ext>
            </a:extLst>
          </p:cNvPr>
          <p:cNvSpPr txBox="1"/>
          <p:nvPr/>
        </p:nvSpPr>
        <p:spPr>
          <a:xfrm>
            <a:off x="6096000" y="1219861"/>
            <a:ext cx="2978220" cy="369332"/>
          </a:xfrm>
          <a:prstGeom prst="rect">
            <a:avLst/>
          </a:prstGeom>
          <a:noFill/>
        </p:spPr>
        <p:txBody>
          <a:bodyPr wrap="square" rtlCol="0">
            <a:spAutoFit/>
          </a:bodyPr>
          <a:lstStyle/>
          <a:p>
            <a:r>
              <a:rPr lang="en-IN" b="1" dirty="0"/>
              <a:t>6.Payment</a:t>
            </a:r>
          </a:p>
        </p:txBody>
      </p:sp>
      <p:pic>
        <p:nvPicPr>
          <p:cNvPr id="9" name="Content Placeholder 4">
            <a:extLst>
              <a:ext uri="{FF2B5EF4-FFF2-40B4-BE49-F238E27FC236}">
                <a16:creationId xmlns:a16="http://schemas.microsoft.com/office/drawing/2014/main" id="{8F224B99-AA28-FAB5-AEF5-E14A469A47E6}"/>
              </a:ext>
            </a:extLst>
          </p:cNvPr>
          <p:cNvPicPr>
            <a:picLocks noChangeAspect="1"/>
          </p:cNvPicPr>
          <p:nvPr/>
        </p:nvPicPr>
        <p:blipFill>
          <a:blip r:embed="rId2"/>
          <a:stretch>
            <a:fillRect/>
          </a:stretch>
        </p:blipFill>
        <p:spPr>
          <a:xfrm>
            <a:off x="0" y="0"/>
            <a:ext cx="1981372" cy="777307"/>
          </a:xfrm>
          <a:prstGeom prst="rect">
            <a:avLst/>
          </a:prstGeom>
        </p:spPr>
      </p:pic>
      <p:sp>
        <p:nvSpPr>
          <p:cNvPr id="4" name="TextBox 3">
            <a:extLst>
              <a:ext uri="{FF2B5EF4-FFF2-40B4-BE49-F238E27FC236}">
                <a16:creationId xmlns:a16="http://schemas.microsoft.com/office/drawing/2014/main" id="{F5D3197E-AB89-E031-9464-794B6B91AB57}"/>
              </a:ext>
            </a:extLst>
          </p:cNvPr>
          <p:cNvSpPr txBox="1"/>
          <p:nvPr/>
        </p:nvSpPr>
        <p:spPr>
          <a:xfrm>
            <a:off x="555780" y="1757453"/>
            <a:ext cx="6096000" cy="4247317"/>
          </a:xfrm>
          <a:prstGeom prst="rect">
            <a:avLst/>
          </a:prstGeom>
          <a:noFill/>
        </p:spPr>
        <p:txBody>
          <a:bodyPr wrap="square">
            <a:spAutoFit/>
          </a:bodyPr>
          <a:lstStyle/>
          <a:p>
            <a:r>
              <a:rPr lang="en-IN" dirty="0"/>
              <a:t>CREATE TABLE </a:t>
            </a:r>
            <a:r>
              <a:rPr lang="en-IN" dirty="0" err="1"/>
              <a:t>Order_Details</a:t>
            </a:r>
            <a:r>
              <a:rPr lang="en-IN" dirty="0"/>
              <a:t> (</a:t>
            </a:r>
          </a:p>
          <a:p>
            <a:r>
              <a:rPr lang="en-IN" dirty="0"/>
              <a:t>    </a:t>
            </a:r>
            <a:r>
              <a:rPr lang="en-IN" dirty="0" err="1"/>
              <a:t>Order_Detail_ID</a:t>
            </a:r>
            <a:r>
              <a:rPr lang="en-IN" dirty="0"/>
              <a:t> NUMBER(5) PRIMARY KEY,</a:t>
            </a:r>
          </a:p>
          <a:p>
            <a:r>
              <a:rPr lang="en-IN" dirty="0"/>
              <a:t>    </a:t>
            </a:r>
            <a:r>
              <a:rPr lang="en-IN" dirty="0" err="1"/>
              <a:t>Order_ID</a:t>
            </a:r>
            <a:r>
              <a:rPr lang="en-IN" dirty="0"/>
              <a:t> NUMBER(5),</a:t>
            </a:r>
          </a:p>
          <a:p>
            <a:r>
              <a:rPr lang="en-IN" dirty="0"/>
              <a:t>    </a:t>
            </a:r>
            <a:r>
              <a:rPr lang="en-IN" dirty="0" err="1"/>
              <a:t>Product_ID</a:t>
            </a:r>
            <a:r>
              <a:rPr lang="en-IN" dirty="0"/>
              <a:t> NUMBER(5),</a:t>
            </a:r>
          </a:p>
          <a:p>
            <a:r>
              <a:rPr lang="en-IN" dirty="0"/>
              <a:t>    Quantity NUMBER(5) CHECK (Quantity &gt; 0),</a:t>
            </a:r>
          </a:p>
          <a:p>
            <a:r>
              <a:rPr lang="en-IN" dirty="0"/>
              <a:t>    </a:t>
            </a:r>
            <a:r>
              <a:rPr lang="en-IN" dirty="0" err="1"/>
              <a:t>UnitPrice</a:t>
            </a:r>
            <a:r>
              <a:rPr lang="en-IN" dirty="0"/>
              <a:t> NUMBER(10,2) CHECK (</a:t>
            </a:r>
            <a:r>
              <a:rPr lang="en-IN" dirty="0" err="1"/>
              <a:t>UnitPrice</a:t>
            </a:r>
            <a:r>
              <a:rPr lang="en-IN" dirty="0"/>
              <a:t> &gt; 0),</a:t>
            </a:r>
          </a:p>
          <a:p>
            <a:endParaRPr lang="en-IN" dirty="0"/>
          </a:p>
          <a:p>
            <a:r>
              <a:rPr lang="en-IN" dirty="0"/>
              <a:t>    CONSTRAINT </a:t>
            </a:r>
            <a:r>
              <a:rPr lang="en-IN" dirty="0" err="1"/>
              <a:t>fk_details_order</a:t>
            </a:r>
            <a:endParaRPr lang="en-IN" dirty="0"/>
          </a:p>
          <a:p>
            <a:r>
              <a:rPr lang="en-IN" dirty="0"/>
              <a:t>        FOREIGN KEY (</a:t>
            </a:r>
            <a:r>
              <a:rPr lang="en-IN" dirty="0" err="1"/>
              <a:t>Order_ID</a:t>
            </a:r>
            <a:r>
              <a:rPr lang="en-IN" dirty="0"/>
              <a:t>)</a:t>
            </a:r>
          </a:p>
          <a:p>
            <a:r>
              <a:rPr lang="en-IN" dirty="0"/>
              <a:t>        REFERENCES Orders(</a:t>
            </a:r>
            <a:r>
              <a:rPr lang="en-IN" dirty="0" err="1"/>
              <a:t>Order_ID</a:t>
            </a:r>
            <a:r>
              <a:rPr lang="en-IN" dirty="0"/>
              <a:t>),</a:t>
            </a:r>
          </a:p>
          <a:p>
            <a:endParaRPr lang="en-IN" dirty="0"/>
          </a:p>
          <a:p>
            <a:r>
              <a:rPr lang="en-IN" dirty="0"/>
              <a:t>    CONSTRAINT </a:t>
            </a:r>
            <a:r>
              <a:rPr lang="en-IN" dirty="0" err="1"/>
              <a:t>fk_details_product</a:t>
            </a:r>
            <a:endParaRPr lang="en-IN" dirty="0"/>
          </a:p>
          <a:p>
            <a:r>
              <a:rPr lang="en-IN" dirty="0"/>
              <a:t>        FOREIGN KEY (</a:t>
            </a:r>
            <a:r>
              <a:rPr lang="en-IN" dirty="0" err="1"/>
              <a:t>Product_ID</a:t>
            </a:r>
            <a:r>
              <a:rPr lang="en-IN" dirty="0"/>
              <a:t>)</a:t>
            </a:r>
          </a:p>
          <a:p>
            <a:r>
              <a:rPr lang="en-IN" dirty="0"/>
              <a:t>        REFERENCES Product(</a:t>
            </a:r>
            <a:r>
              <a:rPr lang="en-IN" dirty="0" err="1"/>
              <a:t>Product_ID</a:t>
            </a:r>
            <a:r>
              <a:rPr lang="en-IN" dirty="0"/>
              <a:t>)</a:t>
            </a:r>
          </a:p>
          <a:p>
            <a:r>
              <a:rPr lang="en-IN" dirty="0"/>
              <a:t>);</a:t>
            </a:r>
          </a:p>
        </p:txBody>
      </p:sp>
      <p:sp>
        <p:nvSpPr>
          <p:cNvPr id="10" name="TextBox 9">
            <a:extLst>
              <a:ext uri="{FF2B5EF4-FFF2-40B4-BE49-F238E27FC236}">
                <a16:creationId xmlns:a16="http://schemas.microsoft.com/office/drawing/2014/main" id="{39182B20-0A45-B0D4-3D7F-F598AD7FA6AB}"/>
              </a:ext>
            </a:extLst>
          </p:cNvPr>
          <p:cNvSpPr txBox="1"/>
          <p:nvPr/>
        </p:nvSpPr>
        <p:spPr>
          <a:xfrm>
            <a:off x="5933440" y="1720840"/>
            <a:ext cx="6096000" cy="3416320"/>
          </a:xfrm>
          <a:prstGeom prst="rect">
            <a:avLst/>
          </a:prstGeom>
          <a:noFill/>
        </p:spPr>
        <p:txBody>
          <a:bodyPr wrap="square">
            <a:spAutoFit/>
          </a:bodyPr>
          <a:lstStyle/>
          <a:p>
            <a:r>
              <a:rPr lang="en-IN" dirty="0"/>
              <a:t>CREATE TABLE Payment (</a:t>
            </a:r>
          </a:p>
          <a:p>
            <a:r>
              <a:rPr lang="en-IN" dirty="0"/>
              <a:t>    </a:t>
            </a:r>
            <a:r>
              <a:rPr lang="en-IN" dirty="0" err="1"/>
              <a:t>Payment_ID</a:t>
            </a:r>
            <a:r>
              <a:rPr lang="en-IN" dirty="0"/>
              <a:t> NUMBER(5) PRIMARY KEY,</a:t>
            </a:r>
          </a:p>
          <a:p>
            <a:r>
              <a:rPr lang="en-IN" dirty="0"/>
              <a:t>    </a:t>
            </a:r>
            <a:r>
              <a:rPr lang="en-IN" dirty="0" err="1"/>
              <a:t>Order_ID</a:t>
            </a:r>
            <a:r>
              <a:rPr lang="en-IN" dirty="0"/>
              <a:t> NUMBER(5),</a:t>
            </a:r>
          </a:p>
          <a:p>
            <a:r>
              <a:rPr lang="en-IN" dirty="0"/>
              <a:t>    Amount NUMBER(10,2) CHECK (Amount &gt; 0),</a:t>
            </a:r>
          </a:p>
          <a:p>
            <a:r>
              <a:rPr lang="en-IN" dirty="0"/>
              <a:t>    </a:t>
            </a:r>
            <a:r>
              <a:rPr lang="en-IN" dirty="0" err="1"/>
              <a:t>PaymentMethod</a:t>
            </a:r>
            <a:r>
              <a:rPr lang="en-IN" dirty="0"/>
              <a:t> VARCHAR2(30),</a:t>
            </a:r>
          </a:p>
          <a:p>
            <a:r>
              <a:rPr lang="en-IN" dirty="0"/>
              <a:t>    </a:t>
            </a:r>
            <a:r>
              <a:rPr lang="en-IN" dirty="0" err="1"/>
              <a:t>PaymentDate</a:t>
            </a:r>
            <a:r>
              <a:rPr lang="en-IN" dirty="0"/>
              <a:t> DATE,</a:t>
            </a:r>
          </a:p>
          <a:p>
            <a:r>
              <a:rPr lang="en-IN" dirty="0"/>
              <a:t>    </a:t>
            </a:r>
            <a:r>
              <a:rPr lang="en-IN" dirty="0" err="1"/>
              <a:t>PaymentStatus</a:t>
            </a:r>
            <a:r>
              <a:rPr lang="en-IN" dirty="0"/>
              <a:t> VARCHAR2(20),</a:t>
            </a:r>
          </a:p>
          <a:p>
            <a:endParaRPr lang="en-IN" dirty="0"/>
          </a:p>
          <a:p>
            <a:r>
              <a:rPr lang="en-IN" dirty="0"/>
              <a:t>    CONSTRAINT </a:t>
            </a:r>
            <a:r>
              <a:rPr lang="en-IN" dirty="0" err="1"/>
              <a:t>fk_payment_order</a:t>
            </a:r>
            <a:endParaRPr lang="en-IN" dirty="0"/>
          </a:p>
          <a:p>
            <a:r>
              <a:rPr lang="en-IN" dirty="0"/>
              <a:t>        FOREIGN KEY (</a:t>
            </a:r>
            <a:r>
              <a:rPr lang="en-IN" dirty="0" err="1"/>
              <a:t>Order_ID</a:t>
            </a:r>
            <a:r>
              <a:rPr lang="en-IN" dirty="0"/>
              <a:t>)</a:t>
            </a:r>
          </a:p>
          <a:p>
            <a:r>
              <a:rPr lang="en-IN" dirty="0"/>
              <a:t>        REFERENCES Orders(</a:t>
            </a:r>
            <a:r>
              <a:rPr lang="en-IN" dirty="0" err="1"/>
              <a:t>Order_ID</a:t>
            </a:r>
            <a:r>
              <a:rPr lang="en-IN" dirty="0"/>
              <a:t>)</a:t>
            </a:r>
          </a:p>
          <a:p>
            <a:r>
              <a:rPr lang="en-IN" dirty="0"/>
              <a:t>);</a:t>
            </a:r>
          </a:p>
        </p:txBody>
      </p:sp>
    </p:spTree>
    <p:extLst>
      <p:ext uri="{BB962C8B-B14F-4D97-AF65-F5344CB8AC3E}">
        <p14:creationId xmlns:p14="http://schemas.microsoft.com/office/powerpoint/2010/main" val="620457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043C29-A8FB-37D4-7C1D-AF7DFA663DEB}"/>
              </a:ext>
            </a:extLst>
          </p:cNvPr>
          <p:cNvSpPr txBox="1"/>
          <p:nvPr/>
        </p:nvSpPr>
        <p:spPr>
          <a:xfrm>
            <a:off x="609125" y="1230775"/>
            <a:ext cx="2163571" cy="369332"/>
          </a:xfrm>
          <a:prstGeom prst="rect">
            <a:avLst/>
          </a:prstGeom>
          <a:noFill/>
        </p:spPr>
        <p:txBody>
          <a:bodyPr wrap="square" rtlCol="0">
            <a:spAutoFit/>
          </a:bodyPr>
          <a:lstStyle/>
          <a:p>
            <a:r>
              <a:rPr lang="en-IN" b="1" dirty="0"/>
              <a:t>7.Review</a:t>
            </a:r>
          </a:p>
        </p:txBody>
      </p:sp>
      <p:pic>
        <p:nvPicPr>
          <p:cNvPr id="8" name="Content Placeholder 4">
            <a:extLst>
              <a:ext uri="{FF2B5EF4-FFF2-40B4-BE49-F238E27FC236}">
                <a16:creationId xmlns:a16="http://schemas.microsoft.com/office/drawing/2014/main" id="{F5E67341-5E63-5DA8-2B91-92C012069E99}"/>
              </a:ext>
            </a:extLst>
          </p:cNvPr>
          <p:cNvPicPr>
            <a:picLocks noChangeAspect="1"/>
          </p:cNvPicPr>
          <p:nvPr/>
        </p:nvPicPr>
        <p:blipFill>
          <a:blip r:embed="rId2"/>
          <a:stretch>
            <a:fillRect/>
          </a:stretch>
        </p:blipFill>
        <p:spPr>
          <a:xfrm>
            <a:off x="0" y="72044"/>
            <a:ext cx="1981372" cy="777307"/>
          </a:xfrm>
          <a:prstGeom prst="rect">
            <a:avLst/>
          </a:prstGeom>
        </p:spPr>
      </p:pic>
      <p:sp>
        <p:nvSpPr>
          <p:cNvPr id="3" name="TextBox 2">
            <a:extLst>
              <a:ext uri="{FF2B5EF4-FFF2-40B4-BE49-F238E27FC236}">
                <a16:creationId xmlns:a16="http://schemas.microsoft.com/office/drawing/2014/main" id="{CDB2BF1E-540D-DEEE-2314-DD7ABEB07A60}"/>
              </a:ext>
            </a:extLst>
          </p:cNvPr>
          <p:cNvSpPr txBox="1"/>
          <p:nvPr/>
        </p:nvSpPr>
        <p:spPr>
          <a:xfrm>
            <a:off x="609125" y="1685003"/>
            <a:ext cx="6096000" cy="4524315"/>
          </a:xfrm>
          <a:prstGeom prst="rect">
            <a:avLst/>
          </a:prstGeom>
          <a:noFill/>
        </p:spPr>
        <p:txBody>
          <a:bodyPr wrap="square">
            <a:spAutoFit/>
          </a:bodyPr>
          <a:lstStyle/>
          <a:p>
            <a:r>
              <a:rPr lang="en-IN" dirty="0"/>
              <a:t>CREATE TABLE Review (</a:t>
            </a:r>
          </a:p>
          <a:p>
            <a:r>
              <a:rPr lang="en-IN" dirty="0"/>
              <a:t>    </a:t>
            </a:r>
            <a:r>
              <a:rPr lang="en-IN" dirty="0" err="1"/>
              <a:t>Review_ID</a:t>
            </a:r>
            <a:r>
              <a:rPr lang="en-IN" dirty="0"/>
              <a:t> NUMBER(5) PRIMARY KEY,</a:t>
            </a:r>
          </a:p>
          <a:p>
            <a:r>
              <a:rPr lang="en-IN" dirty="0"/>
              <a:t>    </a:t>
            </a:r>
            <a:r>
              <a:rPr lang="en-IN" dirty="0" err="1"/>
              <a:t>Customer_ID</a:t>
            </a:r>
            <a:r>
              <a:rPr lang="en-IN" dirty="0"/>
              <a:t> NUMBER(5),</a:t>
            </a:r>
          </a:p>
          <a:p>
            <a:r>
              <a:rPr lang="en-IN" dirty="0"/>
              <a:t>    </a:t>
            </a:r>
            <a:r>
              <a:rPr lang="en-IN" dirty="0" err="1"/>
              <a:t>Product_ID</a:t>
            </a:r>
            <a:r>
              <a:rPr lang="en-IN" dirty="0"/>
              <a:t> NUMBER(5),</a:t>
            </a:r>
          </a:p>
          <a:p>
            <a:r>
              <a:rPr lang="en-IN" dirty="0"/>
              <a:t>    Rating NUMBER(1) CHECK (Rating BETWEEN 1 AND 5),</a:t>
            </a:r>
          </a:p>
          <a:p>
            <a:r>
              <a:rPr lang="en-IN" dirty="0"/>
              <a:t>    </a:t>
            </a:r>
            <a:r>
              <a:rPr lang="en-IN" dirty="0" err="1"/>
              <a:t>CommentText</a:t>
            </a:r>
            <a:r>
              <a:rPr lang="en-IN" dirty="0"/>
              <a:t> VARCHAR2(200),</a:t>
            </a:r>
          </a:p>
          <a:p>
            <a:r>
              <a:rPr lang="en-IN" dirty="0"/>
              <a:t>    </a:t>
            </a:r>
            <a:r>
              <a:rPr lang="en-IN" dirty="0" err="1"/>
              <a:t>ReviewDate</a:t>
            </a:r>
            <a:r>
              <a:rPr lang="en-IN" dirty="0"/>
              <a:t> DATE,</a:t>
            </a:r>
          </a:p>
          <a:p>
            <a:endParaRPr lang="en-IN" dirty="0"/>
          </a:p>
          <a:p>
            <a:r>
              <a:rPr lang="en-IN" dirty="0"/>
              <a:t>    CONSTRAINT </a:t>
            </a:r>
            <a:r>
              <a:rPr lang="en-IN" dirty="0" err="1"/>
              <a:t>fk_review_customer</a:t>
            </a:r>
            <a:endParaRPr lang="en-IN" dirty="0"/>
          </a:p>
          <a:p>
            <a:r>
              <a:rPr lang="en-IN" dirty="0"/>
              <a:t>        FOREIGN KEY (</a:t>
            </a:r>
            <a:r>
              <a:rPr lang="en-IN" dirty="0" err="1"/>
              <a:t>Customer_ID</a:t>
            </a:r>
            <a:r>
              <a:rPr lang="en-IN" dirty="0"/>
              <a:t>)</a:t>
            </a:r>
          </a:p>
          <a:p>
            <a:r>
              <a:rPr lang="en-IN" dirty="0"/>
              <a:t>        REFERENCES Customer(</a:t>
            </a:r>
            <a:r>
              <a:rPr lang="en-IN" dirty="0" err="1"/>
              <a:t>Customer_ID</a:t>
            </a:r>
            <a:r>
              <a:rPr lang="en-IN" dirty="0"/>
              <a:t>),</a:t>
            </a:r>
          </a:p>
          <a:p>
            <a:endParaRPr lang="en-IN" dirty="0"/>
          </a:p>
          <a:p>
            <a:r>
              <a:rPr lang="en-IN" dirty="0"/>
              <a:t>    CONSTRAINT </a:t>
            </a:r>
            <a:r>
              <a:rPr lang="en-IN" dirty="0" err="1"/>
              <a:t>fk_review_product</a:t>
            </a:r>
            <a:endParaRPr lang="en-IN" dirty="0"/>
          </a:p>
          <a:p>
            <a:r>
              <a:rPr lang="en-IN" dirty="0"/>
              <a:t>        FOREIGN KEY (</a:t>
            </a:r>
            <a:r>
              <a:rPr lang="en-IN" dirty="0" err="1"/>
              <a:t>Product_ID</a:t>
            </a:r>
            <a:r>
              <a:rPr lang="en-IN" dirty="0"/>
              <a:t>)</a:t>
            </a:r>
          </a:p>
          <a:p>
            <a:r>
              <a:rPr lang="en-IN" dirty="0"/>
              <a:t>        REFERENCES Product(</a:t>
            </a:r>
            <a:r>
              <a:rPr lang="en-IN" dirty="0" err="1"/>
              <a:t>Product_ID</a:t>
            </a:r>
            <a:r>
              <a:rPr lang="en-IN" dirty="0"/>
              <a:t>)</a:t>
            </a:r>
          </a:p>
          <a:p>
            <a:r>
              <a:rPr lang="en-IN" dirty="0"/>
              <a:t>);</a:t>
            </a:r>
          </a:p>
        </p:txBody>
      </p:sp>
    </p:spTree>
    <p:extLst>
      <p:ext uri="{BB962C8B-B14F-4D97-AF65-F5344CB8AC3E}">
        <p14:creationId xmlns:p14="http://schemas.microsoft.com/office/powerpoint/2010/main" val="4168656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A9F2E1-FD42-196A-C61D-087EF38CAE4F}"/>
              </a:ext>
            </a:extLst>
          </p:cNvPr>
          <p:cNvSpPr txBox="1"/>
          <p:nvPr/>
        </p:nvSpPr>
        <p:spPr>
          <a:xfrm>
            <a:off x="1028313" y="589935"/>
            <a:ext cx="9744803" cy="584775"/>
          </a:xfrm>
          <a:prstGeom prst="rect">
            <a:avLst/>
          </a:prstGeom>
          <a:noFill/>
        </p:spPr>
        <p:txBody>
          <a:bodyPr wrap="square" rtlCol="0">
            <a:spAutoFit/>
          </a:bodyPr>
          <a:lstStyle/>
          <a:p>
            <a:r>
              <a:rPr lang="en-IN" sz="3200" dirty="0"/>
              <a:t>Inserting 15 Records into Each Table</a:t>
            </a:r>
          </a:p>
        </p:txBody>
      </p:sp>
      <p:sp>
        <p:nvSpPr>
          <p:cNvPr id="6" name="TextBox 5">
            <a:extLst>
              <a:ext uri="{FF2B5EF4-FFF2-40B4-BE49-F238E27FC236}">
                <a16:creationId xmlns:a16="http://schemas.microsoft.com/office/drawing/2014/main" id="{13B98997-23E8-659B-F896-CEFB8AF3B50A}"/>
              </a:ext>
            </a:extLst>
          </p:cNvPr>
          <p:cNvSpPr txBox="1"/>
          <p:nvPr/>
        </p:nvSpPr>
        <p:spPr>
          <a:xfrm>
            <a:off x="1028313" y="1174710"/>
            <a:ext cx="6371304" cy="646331"/>
          </a:xfrm>
          <a:prstGeom prst="rect">
            <a:avLst/>
          </a:prstGeom>
          <a:noFill/>
        </p:spPr>
        <p:txBody>
          <a:bodyPr wrap="square" rtlCol="0">
            <a:spAutoFit/>
          </a:bodyPr>
          <a:lstStyle/>
          <a:p>
            <a:r>
              <a:rPr lang="en-IN" dirty="0"/>
              <a:t>Inserting values into customer tables</a:t>
            </a:r>
          </a:p>
          <a:p>
            <a:r>
              <a:rPr lang="en-IN" dirty="0"/>
              <a:t>SQL&gt;select * from customer;</a:t>
            </a:r>
          </a:p>
        </p:txBody>
      </p:sp>
      <p:pic>
        <p:nvPicPr>
          <p:cNvPr id="7" name="Content Placeholder 4">
            <a:extLst>
              <a:ext uri="{FF2B5EF4-FFF2-40B4-BE49-F238E27FC236}">
                <a16:creationId xmlns:a16="http://schemas.microsoft.com/office/drawing/2014/main" id="{5209BFF2-127E-5DB8-0331-37BDB057A408}"/>
              </a:ext>
            </a:extLst>
          </p:cNvPr>
          <p:cNvPicPr>
            <a:picLocks noChangeAspect="1"/>
          </p:cNvPicPr>
          <p:nvPr/>
        </p:nvPicPr>
        <p:blipFill>
          <a:blip r:embed="rId2"/>
          <a:stretch>
            <a:fillRect/>
          </a:stretch>
        </p:blipFill>
        <p:spPr>
          <a:xfrm>
            <a:off x="0" y="0"/>
            <a:ext cx="1981372" cy="777307"/>
          </a:xfrm>
          <a:prstGeom prst="rect">
            <a:avLst/>
          </a:prstGeom>
        </p:spPr>
      </p:pic>
      <p:pic>
        <p:nvPicPr>
          <p:cNvPr id="5" name="Picture 4">
            <a:extLst>
              <a:ext uri="{FF2B5EF4-FFF2-40B4-BE49-F238E27FC236}">
                <a16:creationId xmlns:a16="http://schemas.microsoft.com/office/drawing/2014/main" id="{21061009-07FB-DBB7-0520-1D4CC10526B1}"/>
              </a:ext>
            </a:extLst>
          </p:cNvPr>
          <p:cNvPicPr>
            <a:picLocks noChangeAspect="1"/>
          </p:cNvPicPr>
          <p:nvPr/>
        </p:nvPicPr>
        <p:blipFill>
          <a:blip r:embed="rId3"/>
          <a:stretch>
            <a:fillRect/>
          </a:stretch>
        </p:blipFill>
        <p:spPr>
          <a:xfrm>
            <a:off x="1028313" y="1993542"/>
            <a:ext cx="6371304" cy="4768864"/>
          </a:xfrm>
          <a:prstGeom prst="rect">
            <a:avLst/>
          </a:prstGeom>
        </p:spPr>
      </p:pic>
    </p:spTree>
    <p:extLst>
      <p:ext uri="{BB962C8B-B14F-4D97-AF65-F5344CB8AC3E}">
        <p14:creationId xmlns:p14="http://schemas.microsoft.com/office/powerpoint/2010/main" val="3618878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5A6621-6E73-F7EA-768B-616962E493DD}"/>
              </a:ext>
            </a:extLst>
          </p:cNvPr>
          <p:cNvSpPr txBox="1"/>
          <p:nvPr/>
        </p:nvSpPr>
        <p:spPr>
          <a:xfrm>
            <a:off x="678426" y="1342102"/>
            <a:ext cx="8967019" cy="646331"/>
          </a:xfrm>
          <a:prstGeom prst="rect">
            <a:avLst/>
          </a:prstGeom>
          <a:noFill/>
        </p:spPr>
        <p:txBody>
          <a:bodyPr wrap="square" rtlCol="0">
            <a:spAutoFit/>
          </a:bodyPr>
          <a:lstStyle/>
          <a:p>
            <a:r>
              <a:rPr lang="en-IN" dirty="0"/>
              <a:t>Inserting values into Category table:</a:t>
            </a:r>
          </a:p>
          <a:p>
            <a:r>
              <a:rPr lang="en-IN" dirty="0"/>
              <a:t>SQL&gt;select * from Category;</a:t>
            </a:r>
          </a:p>
        </p:txBody>
      </p:sp>
      <p:pic>
        <p:nvPicPr>
          <p:cNvPr id="5" name="Content Placeholder 4">
            <a:extLst>
              <a:ext uri="{FF2B5EF4-FFF2-40B4-BE49-F238E27FC236}">
                <a16:creationId xmlns:a16="http://schemas.microsoft.com/office/drawing/2014/main" id="{DBEDF36A-F030-B23C-56BE-36D45BE89DA8}"/>
              </a:ext>
            </a:extLst>
          </p:cNvPr>
          <p:cNvPicPr>
            <a:picLocks noChangeAspect="1"/>
          </p:cNvPicPr>
          <p:nvPr/>
        </p:nvPicPr>
        <p:blipFill>
          <a:blip r:embed="rId2"/>
          <a:stretch>
            <a:fillRect/>
          </a:stretch>
        </p:blipFill>
        <p:spPr>
          <a:xfrm>
            <a:off x="0" y="51660"/>
            <a:ext cx="1981372" cy="777307"/>
          </a:xfrm>
          <a:prstGeom prst="rect">
            <a:avLst/>
          </a:prstGeom>
        </p:spPr>
      </p:pic>
      <p:pic>
        <p:nvPicPr>
          <p:cNvPr id="6" name="Picture 5">
            <a:extLst>
              <a:ext uri="{FF2B5EF4-FFF2-40B4-BE49-F238E27FC236}">
                <a16:creationId xmlns:a16="http://schemas.microsoft.com/office/drawing/2014/main" id="{AC7E15A2-A585-580C-470E-506C8A762752}"/>
              </a:ext>
            </a:extLst>
          </p:cNvPr>
          <p:cNvPicPr>
            <a:picLocks noChangeAspect="1"/>
          </p:cNvPicPr>
          <p:nvPr/>
        </p:nvPicPr>
        <p:blipFill>
          <a:blip r:embed="rId3"/>
          <a:stretch>
            <a:fillRect/>
          </a:stretch>
        </p:blipFill>
        <p:spPr>
          <a:xfrm>
            <a:off x="800346" y="2000129"/>
            <a:ext cx="5417574" cy="3591262"/>
          </a:xfrm>
          <a:prstGeom prst="rect">
            <a:avLst/>
          </a:prstGeom>
        </p:spPr>
      </p:pic>
    </p:spTree>
    <p:extLst>
      <p:ext uri="{BB962C8B-B14F-4D97-AF65-F5344CB8AC3E}">
        <p14:creationId xmlns:p14="http://schemas.microsoft.com/office/powerpoint/2010/main" val="3158483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2E2C2D-8236-DEB2-6AC0-0FAFE42FA787}"/>
              </a:ext>
            </a:extLst>
          </p:cNvPr>
          <p:cNvSpPr txBox="1"/>
          <p:nvPr/>
        </p:nvSpPr>
        <p:spPr>
          <a:xfrm>
            <a:off x="698091" y="1244218"/>
            <a:ext cx="4100051" cy="923330"/>
          </a:xfrm>
          <a:prstGeom prst="rect">
            <a:avLst/>
          </a:prstGeom>
          <a:noFill/>
        </p:spPr>
        <p:txBody>
          <a:bodyPr wrap="square" rtlCol="0">
            <a:spAutoFit/>
          </a:bodyPr>
          <a:lstStyle/>
          <a:p>
            <a:r>
              <a:rPr lang="en-IN" dirty="0"/>
              <a:t>Inserting values into product table</a:t>
            </a:r>
          </a:p>
          <a:p>
            <a:r>
              <a:rPr lang="en-IN" dirty="0"/>
              <a:t>SQL&gt;select * from product;</a:t>
            </a:r>
          </a:p>
          <a:p>
            <a:endParaRPr lang="en-IN" dirty="0"/>
          </a:p>
        </p:txBody>
      </p:sp>
      <p:pic>
        <p:nvPicPr>
          <p:cNvPr id="5" name="Content Placeholder 4">
            <a:extLst>
              <a:ext uri="{FF2B5EF4-FFF2-40B4-BE49-F238E27FC236}">
                <a16:creationId xmlns:a16="http://schemas.microsoft.com/office/drawing/2014/main" id="{07A90683-01A5-9651-57A8-09B6B4C3500B}"/>
              </a:ext>
            </a:extLst>
          </p:cNvPr>
          <p:cNvPicPr>
            <a:picLocks noChangeAspect="1"/>
          </p:cNvPicPr>
          <p:nvPr/>
        </p:nvPicPr>
        <p:blipFill>
          <a:blip r:embed="rId2"/>
          <a:stretch>
            <a:fillRect/>
          </a:stretch>
        </p:blipFill>
        <p:spPr>
          <a:xfrm>
            <a:off x="118721" y="161674"/>
            <a:ext cx="1981372" cy="777307"/>
          </a:xfrm>
          <a:prstGeom prst="rect">
            <a:avLst/>
          </a:prstGeom>
        </p:spPr>
      </p:pic>
      <p:pic>
        <p:nvPicPr>
          <p:cNvPr id="6" name="Picture 5">
            <a:extLst>
              <a:ext uri="{FF2B5EF4-FFF2-40B4-BE49-F238E27FC236}">
                <a16:creationId xmlns:a16="http://schemas.microsoft.com/office/drawing/2014/main" id="{B31B1412-C4D9-C8BC-CC6D-7C742E7D1C5B}"/>
              </a:ext>
            </a:extLst>
          </p:cNvPr>
          <p:cNvPicPr>
            <a:picLocks noChangeAspect="1"/>
          </p:cNvPicPr>
          <p:nvPr/>
        </p:nvPicPr>
        <p:blipFill>
          <a:blip r:embed="rId3"/>
          <a:stretch>
            <a:fillRect/>
          </a:stretch>
        </p:blipFill>
        <p:spPr>
          <a:xfrm>
            <a:off x="799691" y="1956361"/>
            <a:ext cx="5113429" cy="4005154"/>
          </a:xfrm>
          <a:prstGeom prst="rect">
            <a:avLst/>
          </a:prstGeom>
        </p:spPr>
      </p:pic>
    </p:spTree>
    <p:extLst>
      <p:ext uri="{BB962C8B-B14F-4D97-AF65-F5344CB8AC3E}">
        <p14:creationId xmlns:p14="http://schemas.microsoft.com/office/powerpoint/2010/main" val="2158493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0CF10E-5E8A-99C9-FBCC-8CD628353545}"/>
              </a:ext>
            </a:extLst>
          </p:cNvPr>
          <p:cNvSpPr txBox="1"/>
          <p:nvPr/>
        </p:nvSpPr>
        <p:spPr>
          <a:xfrm>
            <a:off x="698091" y="1012723"/>
            <a:ext cx="4159044" cy="646331"/>
          </a:xfrm>
          <a:prstGeom prst="rect">
            <a:avLst/>
          </a:prstGeom>
          <a:noFill/>
        </p:spPr>
        <p:txBody>
          <a:bodyPr wrap="square" rtlCol="0">
            <a:spAutoFit/>
          </a:bodyPr>
          <a:lstStyle/>
          <a:p>
            <a:r>
              <a:rPr lang="en-IN" dirty="0"/>
              <a:t>Inserting values into orders table</a:t>
            </a:r>
          </a:p>
          <a:p>
            <a:r>
              <a:rPr lang="en-IN" dirty="0"/>
              <a:t>SQL&gt;select * from Order;</a:t>
            </a:r>
          </a:p>
        </p:txBody>
      </p:sp>
      <p:pic>
        <p:nvPicPr>
          <p:cNvPr id="5" name="Content Placeholder 4">
            <a:extLst>
              <a:ext uri="{FF2B5EF4-FFF2-40B4-BE49-F238E27FC236}">
                <a16:creationId xmlns:a16="http://schemas.microsoft.com/office/drawing/2014/main" id="{F379A5E0-46F6-3BAC-9737-2372DA3A5EDB}"/>
              </a:ext>
            </a:extLst>
          </p:cNvPr>
          <p:cNvPicPr>
            <a:picLocks noChangeAspect="1"/>
          </p:cNvPicPr>
          <p:nvPr/>
        </p:nvPicPr>
        <p:blipFill>
          <a:blip r:embed="rId2"/>
          <a:stretch>
            <a:fillRect/>
          </a:stretch>
        </p:blipFill>
        <p:spPr>
          <a:xfrm>
            <a:off x="0" y="61408"/>
            <a:ext cx="1981372" cy="777307"/>
          </a:xfrm>
          <a:prstGeom prst="rect">
            <a:avLst/>
          </a:prstGeom>
        </p:spPr>
      </p:pic>
      <p:pic>
        <p:nvPicPr>
          <p:cNvPr id="6" name="Picture 5">
            <a:extLst>
              <a:ext uri="{FF2B5EF4-FFF2-40B4-BE49-F238E27FC236}">
                <a16:creationId xmlns:a16="http://schemas.microsoft.com/office/drawing/2014/main" id="{67F185BF-1419-C36B-1D2E-839DA078F87E}"/>
              </a:ext>
            </a:extLst>
          </p:cNvPr>
          <p:cNvPicPr>
            <a:picLocks noChangeAspect="1"/>
          </p:cNvPicPr>
          <p:nvPr/>
        </p:nvPicPr>
        <p:blipFill>
          <a:blip r:embed="rId3"/>
          <a:stretch>
            <a:fillRect/>
          </a:stretch>
        </p:blipFill>
        <p:spPr>
          <a:xfrm>
            <a:off x="789530" y="1833062"/>
            <a:ext cx="5306469" cy="4382039"/>
          </a:xfrm>
          <a:prstGeom prst="rect">
            <a:avLst/>
          </a:prstGeom>
        </p:spPr>
      </p:pic>
    </p:spTree>
    <p:extLst>
      <p:ext uri="{BB962C8B-B14F-4D97-AF65-F5344CB8AC3E}">
        <p14:creationId xmlns:p14="http://schemas.microsoft.com/office/powerpoint/2010/main" val="1443332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5B85F0-DD12-9C36-DB61-880592F32115}"/>
              </a:ext>
            </a:extLst>
          </p:cNvPr>
          <p:cNvSpPr txBox="1"/>
          <p:nvPr/>
        </p:nvSpPr>
        <p:spPr>
          <a:xfrm>
            <a:off x="829083" y="934065"/>
            <a:ext cx="6102659" cy="646331"/>
          </a:xfrm>
          <a:prstGeom prst="rect">
            <a:avLst/>
          </a:prstGeom>
          <a:noFill/>
        </p:spPr>
        <p:txBody>
          <a:bodyPr wrap="square" rtlCol="0">
            <a:spAutoFit/>
          </a:bodyPr>
          <a:lstStyle/>
          <a:p>
            <a:r>
              <a:rPr lang="en-IN" dirty="0"/>
              <a:t>Inserting values into </a:t>
            </a:r>
            <a:r>
              <a:rPr lang="en-IN" dirty="0" err="1"/>
              <a:t>order_Details</a:t>
            </a:r>
            <a:r>
              <a:rPr lang="en-IN" dirty="0"/>
              <a:t> table</a:t>
            </a:r>
          </a:p>
          <a:p>
            <a:r>
              <a:rPr lang="en-IN" dirty="0"/>
              <a:t>SQL&gt;select * from </a:t>
            </a:r>
            <a:r>
              <a:rPr lang="en-IN" dirty="0" err="1"/>
              <a:t>Order_Details</a:t>
            </a:r>
            <a:r>
              <a:rPr lang="en-IN" dirty="0"/>
              <a:t>;</a:t>
            </a:r>
          </a:p>
        </p:txBody>
      </p:sp>
      <p:pic>
        <p:nvPicPr>
          <p:cNvPr id="5" name="Content Placeholder 4">
            <a:extLst>
              <a:ext uri="{FF2B5EF4-FFF2-40B4-BE49-F238E27FC236}">
                <a16:creationId xmlns:a16="http://schemas.microsoft.com/office/drawing/2014/main" id="{0DBD0E2B-272D-D021-B55D-C1D9E69B06D3}"/>
              </a:ext>
            </a:extLst>
          </p:cNvPr>
          <p:cNvPicPr>
            <a:picLocks noChangeAspect="1"/>
          </p:cNvPicPr>
          <p:nvPr/>
        </p:nvPicPr>
        <p:blipFill>
          <a:blip r:embed="rId2"/>
          <a:stretch>
            <a:fillRect/>
          </a:stretch>
        </p:blipFill>
        <p:spPr>
          <a:xfrm>
            <a:off x="0" y="0"/>
            <a:ext cx="1981372" cy="777307"/>
          </a:xfrm>
          <a:prstGeom prst="rect">
            <a:avLst/>
          </a:prstGeom>
        </p:spPr>
      </p:pic>
      <p:pic>
        <p:nvPicPr>
          <p:cNvPr id="6" name="Picture 5">
            <a:extLst>
              <a:ext uri="{FF2B5EF4-FFF2-40B4-BE49-F238E27FC236}">
                <a16:creationId xmlns:a16="http://schemas.microsoft.com/office/drawing/2014/main" id="{BE284517-F03B-E839-F490-A12C86461264}"/>
              </a:ext>
            </a:extLst>
          </p:cNvPr>
          <p:cNvPicPr>
            <a:picLocks noChangeAspect="1"/>
          </p:cNvPicPr>
          <p:nvPr/>
        </p:nvPicPr>
        <p:blipFill>
          <a:blip r:embed="rId3"/>
          <a:stretch>
            <a:fillRect/>
          </a:stretch>
        </p:blipFill>
        <p:spPr>
          <a:xfrm>
            <a:off x="901533" y="1680037"/>
            <a:ext cx="6291747" cy="4236827"/>
          </a:xfrm>
          <a:prstGeom prst="rect">
            <a:avLst/>
          </a:prstGeom>
        </p:spPr>
      </p:pic>
    </p:spTree>
    <p:extLst>
      <p:ext uri="{BB962C8B-B14F-4D97-AF65-F5344CB8AC3E}">
        <p14:creationId xmlns:p14="http://schemas.microsoft.com/office/powerpoint/2010/main" val="2132399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CEC92E-E316-B160-1929-8B86AD013AC0}"/>
              </a:ext>
            </a:extLst>
          </p:cNvPr>
          <p:cNvSpPr txBox="1"/>
          <p:nvPr/>
        </p:nvSpPr>
        <p:spPr>
          <a:xfrm>
            <a:off x="663534" y="875071"/>
            <a:ext cx="6931742" cy="646331"/>
          </a:xfrm>
          <a:prstGeom prst="rect">
            <a:avLst/>
          </a:prstGeom>
          <a:noFill/>
        </p:spPr>
        <p:txBody>
          <a:bodyPr wrap="square" rtlCol="0">
            <a:spAutoFit/>
          </a:bodyPr>
          <a:lstStyle/>
          <a:p>
            <a:r>
              <a:rPr lang="en-IN" dirty="0"/>
              <a:t>Inserting values into payment table</a:t>
            </a:r>
          </a:p>
          <a:p>
            <a:r>
              <a:rPr lang="en-IN" dirty="0"/>
              <a:t>SQL&gt;select * from Payment;</a:t>
            </a:r>
          </a:p>
        </p:txBody>
      </p:sp>
      <p:pic>
        <p:nvPicPr>
          <p:cNvPr id="5" name="Content Placeholder 4">
            <a:extLst>
              <a:ext uri="{FF2B5EF4-FFF2-40B4-BE49-F238E27FC236}">
                <a16:creationId xmlns:a16="http://schemas.microsoft.com/office/drawing/2014/main" id="{DBBBF112-AA8A-8363-4320-DECFDCD21652}"/>
              </a:ext>
            </a:extLst>
          </p:cNvPr>
          <p:cNvPicPr>
            <a:picLocks noChangeAspect="1"/>
          </p:cNvPicPr>
          <p:nvPr/>
        </p:nvPicPr>
        <p:blipFill>
          <a:blip r:embed="rId2"/>
          <a:stretch>
            <a:fillRect/>
          </a:stretch>
        </p:blipFill>
        <p:spPr>
          <a:xfrm>
            <a:off x="0" y="0"/>
            <a:ext cx="1981372" cy="777307"/>
          </a:xfrm>
          <a:prstGeom prst="rect">
            <a:avLst/>
          </a:prstGeom>
        </p:spPr>
      </p:pic>
      <p:pic>
        <p:nvPicPr>
          <p:cNvPr id="6" name="Picture 5">
            <a:extLst>
              <a:ext uri="{FF2B5EF4-FFF2-40B4-BE49-F238E27FC236}">
                <a16:creationId xmlns:a16="http://schemas.microsoft.com/office/drawing/2014/main" id="{9B1EA353-6DA7-DFBE-592F-588F92AF777E}"/>
              </a:ext>
            </a:extLst>
          </p:cNvPr>
          <p:cNvPicPr>
            <a:picLocks noChangeAspect="1"/>
          </p:cNvPicPr>
          <p:nvPr/>
        </p:nvPicPr>
        <p:blipFill>
          <a:blip r:embed="rId3"/>
          <a:stretch>
            <a:fillRect/>
          </a:stretch>
        </p:blipFill>
        <p:spPr>
          <a:xfrm>
            <a:off x="663534" y="1517826"/>
            <a:ext cx="7667666" cy="4076201"/>
          </a:xfrm>
          <a:prstGeom prst="rect">
            <a:avLst/>
          </a:prstGeom>
        </p:spPr>
      </p:pic>
    </p:spTree>
    <p:extLst>
      <p:ext uri="{BB962C8B-B14F-4D97-AF65-F5344CB8AC3E}">
        <p14:creationId xmlns:p14="http://schemas.microsoft.com/office/powerpoint/2010/main" val="904487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C0B9D2-431A-456A-3AE5-BCC9E144BD42}"/>
              </a:ext>
            </a:extLst>
          </p:cNvPr>
          <p:cNvSpPr txBox="1"/>
          <p:nvPr/>
        </p:nvSpPr>
        <p:spPr>
          <a:xfrm>
            <a:off x="798122" y="943897"/>
            <a:ext cx="9191452" cy="646331"/>
          </a:xfrm>
          <a:prstGeom prst="rect">
            <a:avLst/>
          </a:prstGeom>
          <a:noFill/>
        </p:spPr>
        <p:txBody>
          <a:bodyPr wrap="square" rtlCol="0">
            <a:spAutoFit/>
          </a:bodyPr>
          <a:lstStyle/>
          <a:p>
            <a:r>
              <a:rPr lang="en-IN" dirty="0"/>
              <a:t>Inserting values into Review table</a:t>
            </a:r>
          </a:p>
          <a:p>
            <a:r>
              <a:rPr lang="en-IN" dirty="0"/>
              <a:t>SQL&gt;select * from Review</a:t>
            </a:r>
          </a:p>
        </p:txBody>
      </p:sp>
      <p:pic>
        <p:nvPicPr>
          <p:cNvPr id="5" name="Content Placeholder 4">
            <a:extLst>
              <a:ext uri="{FF2B5EF4-FFF2-40B4-BE49-F238E27FC236}">
                <a16:creationId xmlns:a16="http://schemas.microsoft.com/office/drawing/2014/main" id="{0D8E00F4-6248-0EBB-8C40-4FF144EE5D6F}"/>
              </a:ext>
            </a:extLst>
          </p:cNvPr>
          <p:cNvPicPr>
            <a:picLocks noChangeAspect="1"/>
          </p:cNvPicPr>
          <p:nvPr/>
        </p:nvPicPr>
        <p:blipFill>
          <a:blip r:embed="rId2"/>
          <a:stretch>
            <a:fillRect/>
          </a:stretch>
        </p:blipFill>
        <p:spPr>
          <a:xfrm>
            <a:off x="50800" y="166590"/>
            <a:ext cx="1981372" cy="777307"/>
          </a:xfrm>
          <a:prstGeom prst="rect">
            <a:avLst/>
          </a:prstGeom>
        </p:spPr>
      </p:pic>
      <p:pic>
        <p:nvPicPr>
          <p:cNvPr id="6" name="Picture 5">
            <a:extLst>
              <a:ext uri="{FF2B5EF4-FFF2-40B4-BE49-F238E27FC236}">
                <a16:creationId xmlns:a16="http://schemas.microsoft.com/office/drawing/2014/main" id="{F367BE4A-4F32-D558-5848-5993A3D40415}"/>
              </a:ext>
            </a:extLst>
          </p:cNvPr>
          <p:cNvPicPr>
            <a:picLocks noChangeAspect="1"/>
          </p:cNvPicPr>
          <p:nvPr/>
        </p:nvPicPr>
        <p:blipFill>
          <a:blip r:embed="rId3"/>
          <a:stretch>
            <a:fillRect/>
          </a:stretch>
        </p:blipFill>
        <p:spPr>
          <a:xfrm>
            <a:off x="950521" y="1721204"/>
            <a:ext cx="7271932" cy="3826156"/>
          </a:xfrm>
          <a:prstGeom prst="rect">
            <a:avLst/>
          </a:prstGeom>
        </p:spPr>
      </p:pic>
    </p:spTree>
    <p:extLst>
      <p:ext uri="{BB962C8B-B14F-4D97-AF65-F5344CB8AC3E}">
        <p14:creationId xmlns:p14="http://schemas.microsoft.com/office/powerpoint/2010/main" val="353069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2A502D-4E41-7315-4C20-21A1E1BEF4A8}"/>
              </a:ext>
            </a:extLst>
          </p:cNvPr>
          <p:cNvSpPr txBox="1"/>
          <p:nvPr/>
        </p:nvSpPr>
        <p:spPr>
          <a:xfrm>
            <a:off x="894736" y="1203674"/>
            <a:ext cx="950054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Basic SQL Queries &amp; Outputs</a:t>
            </a:r>
          </a:p>
        </p:txBody>
      </p:sp>
      <p:sp>
        <p:nvSpPr>
          <p:cNvPr id="3" name="TextBox 2">
            <a:extLst>
              <a:ext uri="{FF2B5EF4-FFF2-40B4-BE49-F238E27FC236}">
                <a16:creationId xmlns:a16="http://schemas.microsoft.com/office/drawing/2014/main" id="{3F0952EF-D3EA-EFE2-8B72-024FBF0FD371}"/>
              </a:ext>
            </a:extLst>
          </p:cNvPr>
          <p:cNvSpPr txBox="1"/>
          <p:nvPr/>
        </p:nvSpPr>
        <p:spPr>
          <a:xfrm>
            <a:off x="894735" y="1788449"/>
            <a:ext cx="10107561" cy="424731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Query 1: Display all customers.</a:t>
            </a:r>
          </a:p>
          <a:p>
            <a:r>
              <a:rPr lang="en-IN" dirty="0">
                <a:latin typeface="Times New Roman" panose="02020603050405020304" pitchFamily="18" charset="0"/>
                <a:cs typeface="Times New Roman" panose="02020603050405020304" pitchFamily="18" charset="0"/>
              </a:rPr>
              <a:t>SELECT * FROM Customer;</a:t>
            </a:r>
          </a:p>
          <a:p>
            <a:r>
              <a:rPr lang="en-IN" b="1" dirty="0">
                <a:latin typeface="Times New Roman" panose="02020603050405020304" pitchFamily="18" charset="0"/>
                <a:cs typeface="Times New Roman" panose="02020603050405020304" pitchFamily="18" charset="0"/>
              </a:rPr>
              <a:t>Output:</a:t>
            </a: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50BF259-A371-FA7E-488B-140CE11C2DFB}"/>
              </a:ext>
            </a:extLst>
          </p:cNvPr>
          <p:cNvPicPr>
            <a:picLocks noChangeAspect="1"/>
          </p:cNvPicPr>
          <p:nvPr/>
        </p:nvPicPr>
        <p:blipFill>
          <a:blip r:embed="rId2"/>
          <a:stretch>
            <a:fillRect/>
          </a:stretch>
        </p:blipFill>
        <p:spPr>
          <a:xfrm>
            <a:off x="980145" y="2745564"/>
            <a:ext cx="6797629" cy="3558848"/>
          </a:xfrm>
          <a:prstGeom prst="rect">
            <a:avLst/>
          </a:prstGeom>
        </p:spPr>
      </p:pic>
      <p:pic>
        <p:nvPicPr>
          <p:cNvPr id="7" name="Content Placeholder 4">
            <a:extLst>
              <a:ext uri="{FF2B5EF4-FFF2-40B4-BE49-F238E27FC236}">
                <a16:creationId xmlns:a16="http://schemas.microsoft.com/office/drawing/2014/main" id="{2528AB9B-EA04-4FA1-D1B2-3F5C3037DAB7}"/>
              </a:ext>
            </a:extLst>
          </p:cNvPr>
          <p:cNvPicPr>
            <a:picLocks noChangeAspect="1"/>
          </p:cNvPicPr>
          <p:nvPr/>
        </p:nvPicPr>
        <p:blipFill>
          <a:blip r:embed="rId3"/>
          <a:stretch>
            <a:fillRect/>
          </a:stretch>
        </p:blipFill>
        <p:spPr>
          <a:xfrm>
            <a:off x="88241" y="44927"/>
            <a:ext cx="1981372" cy="777307"/>
          </a:xfrm>
          <a:prstGeom prst="rect">
            <a:avLst/>
          </a:prstGeom>
        </p:spPr>
      </p:pic>
    </p:spTree>
    <p:extLst>
      <p:ext uri="{BB962C8B-B14F-4D97-AF65-F5344CB8AC3E}">
        <p14:creationId xmlns:p14="http://schemas.microsoft.com/office/powerpoint/2010/main" val="1594199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F68A0A-4EFA-D33F-AABE-46EBDE8BC063}"/>
              </a:ext>
            </a:extLst>
          </p:cNvPr>
          <p:cNvSpPr txBox="1"/>
          <p:nvPr/>
        </p:nvSpPr>
        <p:spPr>
          <a:xfrm>
            <a:off x="678425" y="423238"/>
            <a:ext cx="5329085" cy="5909310"/>
          </a:xfrm>
          <a:prstGeom prst="rect">
            <a:avLst/>
          </a:prstGeom>
          <a:noFill/>
        </p:spPr>
        <p:txBody>
          <a:bodyPr wrap="square">
            <a:spAutoFit/>
          </a:bodyPr>
          <a:lstStyle/>
          <a:p>
            <a:pPr>
              <a:buNone/>
            </a:pPr>
            <a:endParaRPr lang="en-IN" b="1" dirty="0">
              <a:latin typeface="Times New Roman" panose="02020603050405020304" pitchFamily="18" charset="0"/>
              <a:cs typeface="Times New Roman" panose="02020603050405020304" pitchFamily="18" charset="0"/>
            </a:endParaRP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Query 2: Display product names and prices.</a:t>
            </a:r>
          </a:p>
          <a:p>
            <a:pPr rtl="0">
              <a:buNone/>
            </a:pPr>
            <a:r>
              <a:rPr lang="en-IN" dirty="0">
                <a:latin typeface="Times New Roman" panose="02020603050405020304" pitchFamily="18" charset="0"/>
                <a:cs typeface="Times New Roman" panose="02020603050405020304" pitchFamily="18" charset="0"/>
              </a:rPr>
              <a:t>SELECT Name, Price</a:t>
            </a: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b="1" dirty="0">
                <a:latin typeface="Times New Roman" panose="02020603050405020304" pitchFamily="18" charset="0"/>
                <a:cs typeface="Times New Roman" panose="02020603050405020304" pitchFamily="18" charset="0"/>
              </a:rPr>
              <a:t>Output:</a:t>
            </a: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a:p>
            <a:pPr rtl="0">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D72B0F8-E727-6BB5-32EA-4DC7ADF84602}"/>
              </a:ext>
            </a:extLst>
          </p:cNvPr>
          <p:cNvPicPr>
            <a:picLocks noChangeAspect="1"/>
          </p:cNvPicPr>
          <p:nvPr/>
        </p:nvPicPr>
        <p:blipFill>
          <a:blip r:embed="rId2"/>
          <a:stretch>
            <a:fillRect/>
          </a:stretch>
        </p:blipFill>
        <p:spPr>
          <a:xfrm>
            <a:off x="678425" y="2432672"/>
            <a:ext cx="4589942" cy="3741986"/>
          </a:xfrm>
          <a:prstGeom prst="rect">
            <a:avLst/>
          </a:prstGeom>
        </p:spPr>
      </p:pic>
      <p:sp>
        <p:nvSpPr>
          <p:cNvPr id="6" name="TextBox 5">
            <a:extLst>
              <a:ext uri="{FF2B5EF4-FFF2-40B4-BE49-F238E27FC236}">
                <a16:creationId xmlns:a16="http://schemas.microsoft.com/office/drawing/2014/main" id="{36CF94CC-C30E-336E-1C68-51D203D58618}"/>
              </a:ext>
            </a:extLst>
          </p:cNvPr>
          <p:cNvSpPr txBox="1"/>
          <p:nvPr/>
        </p:nvSpPr>
        <p:spPr>
          <a:xfrm>
            <a:off x="5820697" y="1024170"/>
            <a:ext cx="5161938"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Query 3: Display products whose price is greater than 2000.</a:t>
            </a:r>
          </a:p>
          <a:p>
            <a:r>
              <a:rPr lang="en-IN" dirty="0">
                <a:latin typeface="Times New Roman" panose="02020603050405020304" pitchFamily="18" charset="0"/>
                <a:cs typeface="Times New Roman" panose="02020603050405020304" pitchFamily="18" charset="0"/>
              </a:rPr>
              <a:t>SELECT Name, Price</a:t>
            </a:r>
          </a:p>
          <a:p>
            <a:r>
              <a:rPr lang="en-IN" dirty="0">
                <a:latin typeface="Times New Roman" panose="02020603050405020304" pitchFamily="18" charset="0"/>
                <a:cs typeface="Times New Roman" panose="02020603050405020304" pitchFamily="18" charset="0"/>
              </a:rPr>
              <a:t>FROM Product</a:t>
            </a:r>
          </a:p>
          <a:p>
            <a:r>
              <a:rPr lang="en-IN" dirty="0">
                <a:latin typeface="Times New Roman" panose="02020603050405020304" pitchFamily="18" charset="0"/>
                <a:cs typeface="Times New Roman" panose="02020603050405020304" pitchFamily="18" charset="0"/>
              </a:rPr>
              <a:t>WHERE Price &gt; 2000;</a:t>
            </a:r>
          </a:p>
          <a:p>
            <a:r>
              <a:rPr lang="en-IN" b="1" dirty="0">
                <a:latin typeface="Times New Roman" panose="02020603050405020304" pitchFamily="18" charset="0"/>
                <a:cs typeface="Times New Roman" panose="02020603050405020304" pitchFamily="18" charset="0"/>
              </a:rPr>
              <a:t>Output:</a:t>
            </a:r>
          </a:p>
          <a:p>
            <a:endParaRPr lang="en-IN"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23BEFC5-359E-3BAF-F517-5C1C32675E61}"/>
              </a:ext>
            </a:extLst>
          </p:cNvPr>
          <p:cNvPicPr>
            <a:picLocks noChangeAspect="1"/>
          </p:cNvPicPr>
          <p:nvPr/>
        </p:nvPicPr>
        <p:blipFill>
          <a:blip r:embed="rId3"/>
          <a:stretch>
            <a:fillRect/>
          </a:stretch>
        </p:blipFill>
        <p:spPr>
          <a:xfrm>
            <a:off x="5916250" y="2760892"/>
            <a:ext cx="2578822" cy="2371547"/>
          </a:xfrm>
          <a:prstGeom prst="rect">
            <a:avLst/>
          </a:prstGeom>
        </p:spPr>
      </p:pic>
      <p:pic>
        <p:nvPicPr>
          <p:cNvPr id="9" name="Content Placeholder 4">
            <a:extLst>
              <a:ext uri="{FF2B5EF4-FFF2-40B4-BE49-F238E27FC236}">
                <a16:creationId xmlns:a16="http://schemas.microsoft.com/office/drawing/2014/main" id="{08D3F05E-6014-5794-D1EC-5CF90143140B}"/>
              </a:ext>
            </a:extLst>
          </p:cNvPr>
          <p:cNvPicPr>
            <a:picLocks noChangeAspect="1"/>
          </p:cNvPicPr>
          <p:nvPr/>
        </p:nvPicPr>
        <p:blipFill>
          <a:blip r:embed="rId4"/>
          <a:stretch>
            <a:fillRect/>
          </a:stretch>
        </p:blipFill>
        <p:spPr>
          <a:xfrm>
            <a:off x="169521" y="102524"/>
            <a:ext cx="1981372" cy="777307"/>
          </a:xfrm>
          <a:prstGeom prst="rect">
            <a:avLst/>
          </a:prstGeom>
        </p:spPr>
      </p:pic>
    </p:spTree>
    <p:extLst>
      <p:ext uri="{BB962C8B-B14F-4D97-AF65-F5344CB8AC3E}">
        <p14:creationId xmlns:p14="http://schemas.microsoft.com/office/powerpoint/2010/main" val="607318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2011B0-DAB8-7272-E77D-51F6EB759262}"/>
              </a:ext>
            </a:extLst>
          </p:cNvPr>
          <p:cNvSpPr txBox="1"/>
          <p:nvPr/>
        </p:nvSpPr>
        <p:spPr>
          <a:xfrm>
            <a:off x="737937" y="1115320"/>
            <a:ext cx="6096000" cy="175432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Query 4: Display customers from Rajahmundry.</a:t>
            </a:r>
          </a:p>
          <a:p>
            <a:pPr rtl="0">
              <a:buNone/>
            </a:pPr>
            <a:r>
              <a:rPr lang="en-IN" dirty="0">
                <a:latin typeface="Times New Roman" panose="02020603050405020304" pitchFamily="18" charset="0"/>
                <a:cs typeface="Times New Roman" panose="02020603050405020304" pitchFamily="18" charset="0"/>
              </a:rPr>
              <a:t>SELECT *</a:t>
            </a:r>
          </a:p>
          <a:p>
            <a:pPr rtl="0">
              <a:buNone/>
            </a:pPr>
            <a:r>
              <a:rPr lang="en-IN" dirty="0">
                <a:latin typeface="Times New Roman" panose="02020603050405020304" pitchFamily="18" charset="0"/>
                <a:cs typeface="Times New Roman" panose="02020603050405020304" pitchFamily="18" charset="0"/>
              </a:rPr>
              <a:t>FROM Customer</a:t>
            </a:r>
          </a:p>
          <a:p>
            <a:pPr rtl="0">
              <a:buNone/>
            </a:pPr>
            <a:r>
              <a:rPr lang="en-IN" dirty="0">
                <a:latin typeface="Times New Roman" panose="02020603050405020304" pitchFamily="18" charset="0"/>
                <a:cs typeface="Times New Roman" panose="02020603050405020304" pitchFamily="18" charset="0"/>
              </a:rPr>
              <a:t>WHERE Address = 'Rajahmundry’;</a:t>
            </a:r>
          </a:p>
          <a:p>
            <a:pPr rtl="0">
              <a:buNone/>
            </a:pPr>
            <a:r>
              <a:rPr lang="en-IN" b="1" dirty="0">
                <a:latin typeface="Times New Roman" panose="02020603050405020304" pitchFamily="18" charset="0"/>
                <a:cs typeface="Times New Roman" panose="02020603050405020304" pitchFamily="18" charset="0"/>
              </a:rPr>
              <a:t>Output:</a:t>
            </a:r>
          </a:p>
          <a:p>
            <a:pPr rtl="0">
              <a:buNone/>
            </a:pP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BBE1AB7-4594-D451-E9E7-D71F3DD005F1}"/>
              </a:ext>
            </a:extLst>
          </p:cNvPr>
          <p:cNvPicPr>
            <a:picLocks noChangeAspect="1"/>
          </p:cNvPicPr>
          <p:nvPr/>
        </p:nvPicPr>
        <p:blipFill>
          <a:blip r:embed="rId2"/>
          <a:stretch>
            <a:fillRect/>
          </a:stretch>
        </p:blipFill>
        <p:spPr>
          <a:xfrm>
            <a:off x="737937" y="2869646"/>
            <a:ext cx="5114223" cy="726994"/>
          </a:xfrm>
          <a:prstGeom prst="rect">
            <a:avLst/>
          </a:prstGeom>
        </p:spPr>
      </p:pic>
      <p:sp>
        <p:nvSpPr>
          <p:cNvPr id="8" name="TextBox 7">
            <a:extLst>
              <a:ext uri="{FF2B5EF4-FFF2-40B4-BE49-F238E27FC236}">
                <a16:creationId xmlns:a16="http://schemas.microsoft.com/office/drawing/2014/main" id="{D75FC9B5-4F68-4E18-4D65-01D3C7D01432}"/>
              </a:ext>
            </a:extLst>
          </p:cNvPr>
          <p:cNvSpPr txBox="1"/>
          <p:nvPr/>
        </p:nvSpPr>
        <p:spPr>
          <a:xfrm>
            <a:off x="737937" y="3802228"/>
            <a:ext cx="5623534" cy="147732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Query 5: Display products in ascending order of price.</a:t>
            </a:r>
          </a:p>
          <a:p>
            <a:pPr rtl="0">
              <a:buNone/>
            </a:pPr>
            <a:r>
              <a:rPr lang="en-IN" dirty="0">
                <a:latin typeface="Times New Roman" panose="02020603050405020304" pitchFamily="18" charset="0"/>
                <a:cs typeface="Times New Roman" panose="02020603050405020304" pitchFamily="18" charset="0"/>
              </a:rPr>
              <a:t>SELECT Name, Price</a:t>
            </a: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dirty="0">
                <a:latin typeface="Times New Roman" panose="02020603050405020304" pitchFamily="18" charset="0"/>
                <a:cs typeface="Times New Roman" panose="02020603050405020304" pitchFamily="18" charset="0"/>
              </a:rPr>
              <a:t>ORDER BY Price ASC;</a:t>
            </a:r>
          </a:p>
          <a:p>
            <a:pPr rtl="0">
              <a:buNone/>
            </a:pPr>
            <a:endParaRPr lang="en-IN"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2087EBA-359E-8907-A99D-E039E088257A}"/>
              </a:ext>
            </a:extLst>
          </p:cNvPr>
          <p:cNvPicPr>
            <a:picLocks noChangeAspect="1"/>
          </p:cNvPicPr>
          <p:nvPr/>
        </p:nvPicPr>
        <p:blipFill>
          <a:blip r:embed="rId3"/>
          <a:stretch>
            <a:fillRect/>
          </a:stretch>
        </p:blipFill>
        <p:spPr>
          <a:xfrm>
            <a:off x="6536486" y="1674291"/>
            <a:ext cx="4691951" cy="3879468"/>
          </a:xfrm>
          <a:prstGeom prst="rect">
            <a:avLst/>
          </a:prstGeom>
        </p:spPr>
      </p:pic>
      <p:sp>
        <p:nvSpPr>
          <p:cNvPr id="11" name="TextBox 10">
            <a:extLst>
              <a:ext uri="{FF2B5EF4-FFF2-40B4-BE49-F238E27FC236}">
                <a16:creationId xmlns:a16="http://schemas.microsoft.com/office/drawing/2014/main" id="{2501406F-019F-3460-25C7-F6B9C1C43F22}"/>
              </a:ext>
            </a:extLst>
          </p:cNvPr>
          <p:cNvSpPr txBox="1"/>
          <p:nvPr/>
        </p:nvSpPr>
        <p:spPr>
          <a:xfrm>
            <a:off x="6536486" y="1304241"/>
            <a:ext cx="4033191" cy="369332"/>
          </a:xfrm>
          <a:prstGeom prst="rect">
            <a:avLst/>
          </a:prstGeom>
          <a:noFill/>
        </p:spPr>
        <p:txBody>
          <a:bodyPr wrap="square" rtlCol="0">
            <a:spAutoFit/>
          </a:bodyPr>
          <a:lstStyle/>
          <a:p>
            <a:r>
              <a:rPr lang="en-IN" b="1" dirty="0"/>
              <a:t>Output:</a:t>
            </a:r>
          </a:p>
        </p:txBody>
      </p:sp>
      <p:pic>
        <p:nvPicPr>
          <p:cNvPr id="12" name="Content Placeholder 4">
            <a:extLst>
              <a:ext uri="{FF2B5EF4-FFF2-40B4-BE49-F238E27FC236}">
                <a16:creationId xmlns:a16="http://schemas.microsoft.com/office/drawing/2014/main" id="{83D0761E-9328-A17F-80C3-A628BDD2BFEE}"/>
              </a:ext>
            </a:extLst>
          </p:cNvPr>
          <p:cNvPicPr>
            <a:picLocks noChangeAspect="1"/>
          </p:cNvPicPr>
          <p:nvPr/>
        </p:nvPicPr>
        <p:blipFill>
          <a:blip r:embed="rId4"/>
          <a:stretch>
            <a:fillRect/>
          </a:stretch>
        </p:blipFill>
        <p:spPr>
          <a:xfrm>
            <a:off x="169521" y="102524"/>
            <a:ext cx="1981372" cy="777307"/>
          </a:xfrm>
          <a:prstGeom prst="rect">
            <a:avLst/>
          </a:prstGeom>
        </p:spPr>
      </p:pic>
    </p:spTree>
    <p:extLst>
      <p:ext uri="{BB962C8B-B14F-4D97-AF65-F5344CB8AC3E}">
        <p14:creationId xmlns:p14="http://schemas.microsoft.com/office/powerpoint/2010/main" val="557888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33149D-962A-E9DD-EB17-92B8A2C80CF5}"/>
              </a:ext>
            </a:extLst>
          </p:cNvPr>
          <p:cNvSpPr txBox="1"/>
          <p:nvPr/>
        </p:nvSpPr>
        <p:spPr>
          <a:xfrm>
            <a:off x="648930" y="1120877"/>
            <a:ext cx="4515019" cy="1477328"/>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Query 6: Find the maximum product price.</a:t>
            </a:r>
          </a:p>
          <a:p>
            <a:r>
              <a:rPr lang="en-IN" dirty="0">
                <a:latin typeface="Times New Roman" panose="02020603050405020304" pitchFamily="18" charset="0"/>
                <a:cs typeface="Times New Roman" panose="02020603050405020304" pitchFamily="18" charset="0"/>
              </a:rPr>
              <a:t>SELECT MAX(Price) AS </a:t>
            </a:r>
            <a:r>
              <a:rPr lang="en-IN" dirty="0" err="1">
                <a:latin typeface="Times New Roman" panose="02020603050405020304" pitchFamily="18" charset="0"/>
                <a:cs typeface="Times New Roman" panose="02020603050405020304" pitchFamily="18" charset="0"/>
              </a:rPr>
              <a:t>Maximum_Price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Product;</a:t>
            </a:r>
          </a:p>
          <a:p>
            <a:r>
              <a:rPr lang="en-IN" b="1" dirty="0">
                <a:latin typeface="Times New Roman" panose="02020603050405020304" pitchFamily="18" charset="0"/>
                <a:cs typeface="Times New Roman" panose="02020603050405020304" pitchFamily="18" charset="0"/>
              </a:rPr>
              <a:t>Output:</a:t>
            </a:r>
          </a:p>
          <a:p>
            <a:endParaRPr lang="en-IN" dirty="0"/>
          </a:p>
        </p:txBody>
      </p:sp>
      <p:pic>
        <p:nvPicPr>
          <p:cNvPr id="4" name="Picture 3">
            <a:extLst>
              <a:ext uri="{FF2B5EF4-FFF2-40B4-BE49-F238E27FC236}">
                <a16:creationId xmlns:a16="http://schemas.microsoft.com/office/drawing/2014/main" id="{F4C8869D-A45D-9409-4803-8971B731E8CD}"/>
              </a:ext>
            </a:extLst>
          </p:cNvPr>
          <p:cNvPicPr>
            <a:picLocks noChangeAspect="1"/>
          </p:cNvPicPr>
          <p:nvPr/>
        </p:nvPicPr>
        <p:blipFill>
          <a:blip r:embed="rId2"/>
          <a:stretch>
            <a:fillRect/>
          </a:stretch>
        </p:blipFill>
        <p:spPr>
          <a:xfrm>
            <a:off x="648929" y="2365775"/>
            <a:ext cx="1966451" cy="685448"/>
          </a:xfrm>
          <a:prstGeom prst="rect">
            <a:avLst/>
          </a:prstGeom>
        </p:spPr>
      </p:pic>
      <p:sp>
        <p:nvSpPr>
          <p:cNvPr id="7" name="TextBox 6">
            <a:extLst>
              <a:ext uri="{FF2B5EF4-FFF2-40B4-BE49-F238E27FC236}">
                <a16:creationId xmlns:a16="http://schemas.microsoft.com/office/drawing/2014/main" id="{0A0AA099-B71C-4EC0-CB27-E2E01B5EBE2F}"/>
              </a:ext>
            </a:extLst>
          </p:cNvPr>
          <p:cNvSpPr txBox="1"/>
          <p:nvPr/>
        </p:nvSpPr>
        <p:spPr>
          <a:xfrm>
            <a:off x="648929" y="3254929"/>
            <a:ext cx="6096000" cy="175432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Query 7: Find the average product price.</a:t>
            </a:r>
          </a:p>
          <a:p>
            <a:pPr rtl="0">
              <a:buNone/>
            </a:pPr>
            <a:r>
              <a:rPr lang="en-IN" dirty="0">
                <a:latin typeface="Times New Roman" panose="02020603050405020304" pitchFamily="18" charset="0"/>
                <a:cs typeface="Times New Roman" panose="02020603050405020304" pitchFamily="18" charset="0"/>
              </a:rPr>
              <a:t>SELECT AVG(Price) AS </a:t>
            </a:r>
            <a:r>
              <a:rPr lang="en-IN" dirty="0" err="1">
                <a:latin typeface="Times New Roman" panose="02020603050405020304" pitchFamily="18" charset="0"/>
                <a:cs typeface="Times New Roman" panose="02020603050405020304" pitchFamily="18" charset="0"/>
              </a:rPr>
              <a:t>Average_Price</a:t>
            </a: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b="1" dirty="0">
                <a:latin typeface="Times New Roman" panose="02020603050405020304" pitchFamily="18" charset="0"/>
                <a:cs typeface="Times New Roman" panose="02020603050405020304" pitchFamily="18" charset="0"/>
              </a:rPr>
              <a:t>Output:</a:t>
            </a:r>
          </a:p>
          <a:p>
            <a:pPr rtl="0">
              <a:buNone/>
            </a:pPr>
            <a:endParaRPr lang="en-IN" b="1" dirty="0">
              <a:latin typeface="Times New Roman" panose="02020603050405020304" pitchFamily="18" charset="0"/>
              <a:cs typeface="Times New Roman" panose="02020603050405020304" pitchFamily="18" charset="0"/>
            </a:endParaRPr>
          </a:p>
          <a:p>
            <a:pPr rtl="0">
              <a:buNone/>
            </a:pPr>
            <a:endParaRPr lang="en-IN"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6063554-C0A6-5357-8F47-4227378FD258}"/>
              </a:ext>
            </a:extLst>
          </p:cNvPr>
          <p:cNvPicPr>
            <a:picLocks noChangeAspect="1"/>
          </p:cNvPicPr>
          <p:nvPr/>
        </p:nvPicPr>
        <p:blipFill>
          <a:blip r:embed="rId3"/>
          <a:stretch>
            <a:fillRect/>
          </a:stretch>
        </p:blipFill>
        <p:spPr>
          <a:xfrm>
            <a:off x="648929" y="4755720"/>
            <a:ext cx="3827713" cy="661853"/>
          </a:xfrm>
          <a:prstGeom prst="rect">
            <a:avLst/>
          </a:prstGeom>
        </p:spPr>
      </p:pic>
      <p:pic>
        <p:nvPicPr>
          <p:cNvPr id="10" name="Content Placeholder 4">
            <a:extLst>
              <a:ext uri="{FF2B5EF4-FFF2-40B4-BE49-F238E27FC236}">
                <a16:creationId xmlns:a16="http://schemas.microsoft.com/office/drawing/2014/main" id="{7C3DD77F-1DC8-8A8F-674D-8AD772A4F281}"/>
              </a:ext>
            </a:extLst>
          </p:cNvPr>
          <p:cNvPicPr>
            <a:picLocks noChangeAspect="1"/>
          </p:cNvPicPr>
          <p:nvPr/>
        </p:nvPicPr>
        <p:blipFill>
          <a:blip r:embed="rId4"/>
          <a:stretch>
            <a:fillRect/>
          </a:stretch>
        </p:blipFill>
        <p:spPr>
          <a:xfrm>
            <a:off x="169521" y="102524"/>
            <a:ext cx="1981372" cy="777307"/>
          </a:xfrm>
          <a:prstGeom prst="rect">
            <a:avLst/>
          </a:prstGeom>
        </p:spPr>
      </p:pic>
      <p:sp>
        <p:nvSpPr>
          <p:cNvPr id="12" name="TextBox 11">
            <a:extLst>
              <a:ext uri="{FF2B5EF4-FFF2-40B4-BE49-F238E27FC236}">
                <a16:creationId xmlns:a16="http://schemas.microsoft.com/office/drawing/2014/main" id="{ED743D10-3137-D88D-7664-A5C283C88FDC}"/>
              </a:ext>
            </a:extLst>
          </p:cNvPr>
          <p:cNvSpPr txBox="1"/>
          <p:nvPr/>
        </p:nvSpPr>
        <p:spPr>
          <a:xfrm>
            <a:off x="5447070" y="1120877"/>
            <a:ext cx="6096000" cy="1477328"/>
          </a:xfrm>
          <a:prstGeom prst="rect">
            <a:avLst/>
          </a:prstGeom>
          <a:noFill/>
        </p:spPr>
        <p:txBody>
          <a:bodyPr wrap="square">
            <a:spAutoFit/>
          </a:bodyPr>
          <a:lstStyle/>
          <a:p>
            <a:r>
              <a:rPr lang="en-IN" b="1" dirty="0"/>
              <a:t> </a:t>
            </a:r>
            <a:r>
              <a:rPr lang="en-IN" b="1" dirty="0">
                <a:latin typeface="Times New Roman" panose="02020603050405020304" pitchFamily="18" charset="0"/>
                <a:cs typeface="Times New Roman" panose="02020603050405020304" pitchFamily="18" charset="0"/>
              </a:rPr>
              <a:t>Query 8 – Display products with their stock</a:t>
            </a:r>
          </a:p>
          <a:p>
            <a:r>
              <a:rPr lang="en-IN" dirty="0">
                <a:latin typeface="Times New Roman" panose="02020603050405020304" pitchFamily="18" charset="0"/>
                <a:cs typeface="Times New Roman" panose="02020603050405020304" pitchFamily="18" charset="0"/>
              </a:rPr>
              <a:t>SELECT Name, Stock</a:t>
            </a:r>
          </a:p>
          <a:p>
            <a:r>
              <a:rPr lang="en-IN" dirty="0">
                <a:latin typeface="Times New Roman" panose="02020603050405020304" pitchFamily="18" charset="0"/>
                <a:cs typeface="Times New Roman" panose="02020603050405020304" pitchFamily="18" charset="0"/>
              </a:rPr>
              <a:t>FROM Product;</a:t>
            </a:r>
          </a:p>
          <a:p>
            <a:r>
              <a:rPr lang="en-IN" b="1" dirty="0"/>
              <a:t>Output:</a:t>
            </a:r>
          </a:p>
          <a:p>
            <a:endParaRPr lang="en-IN" dirty="0"/>
          </a:p>
        </p:txBody>
      </p:sp>
      <p:pic>
        <p:nvPicPr>
          <p:cNvPr id="14" name="Picture 13">
            <a:extLst>
              <a:ext uri="{FF2B5EF4-FFF2-40B4-BE49-F238E27FC236}">
                <a16:creationId xmlns:a16="http://schemas.microsoft.com/office/drawing/2014/main" id="{ADF99AA8-D042-C710-F497-2597220CC465}"/>
              </a:ext>
            </a:extLst>
          </p:cNvPr>
          <p:cNvPicPr>
            <a:picLocks noChangeAspect="1"/>
          </p:cNvPicPr>
          <p:nvPr/>
        </p:nvPicPr>
        <p:blipFill>
          <a:blip r:embed="rId5"/>
          <a:stretch>
            <a:fillRect/>
          </a:stretch>
        </p:blipFill>
        <p:spPr>
          <a:xfrm>
            <a:off x="5538839" y="2378073"/>
            <a:ext cx="4588387" cy="2909709"/>
          </a:xfrm>
          <a:prstGeom prst="rect">
            <a:avLst/>
          </a:prstGeom>
        </p:spPr>
      </p:pic>
    </p:spTree>
    <p:extLst>
      <p:ext uri="{BB962C8B-B14F-4D97-AF65-F5344CB8AC3E}">
        <p14:creationId xmlns:p14="http://schemas.microsoft.com/office/powerpoint/2010/main" val="921445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09E9F6-DC18-ED5C-72C3-054295E508DD}"/>
              </a:ext>
            </a:extLst>
          </p:cNvPr>
          <p:cNvSpPr txBox="1"/>
          <p:nvPr/>
        </p:nvSpPr>
        <p:spPr>
          <a:xfrm>
            <a:off x="816079" y="1113503"/>
            <a:ext cx="7059561"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Advanced Queries &amp; outputs</a:t>
            </a:r>
          </a:p>
        </p:txBody>
      </p:sp>
      <p:sp>
        <p:nvSpPr>
          <p:cNvPr id="3" name="TextBox 2">
            <a:extLst>
              <a:ext uri="{FF2B5EF4-FFF2-40B4-BE49-F238E27FC236}">
                <a16:creationId xmlns:a16="http://schemas.microsoft.com/office/drawing/2014/main" id="{36CBBF12-D9A8-8817-A2FB-C9D5037256B8}"/>
              </a:ext>
            </a:extLst>
          </p:cNvPr>
          <p:cNvSpPr txBox="1"/>
          <p:nvPr/>
        </p:nvSpPr>
        <p:spPr>
          <a:xfrm>
            <a:off x="816079" y="1919749"/>
            <a:ext cx="5899354"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Query 1: Find products whose price is greater than the average product price.</a:t>
            </a:r>
          </a:p>
          <a:p>
            <a:r>
              <a:rPr lang="en-IN" dirty="0">
                <a:latin typeface="Times New Roman" panose="02020603050405020304" pitchFamily="18" charset="0"/>
                <a:cs typeface="Times New Roman" panose="02020603050405020304" pitchFamily="18" charset="0"/>
              </a:rPr>
              <a:t>SELECT Name, Price</a:t>
            </a:r>
          </a:p>
          <a:p>
            <a:r>
              <a:rPr lang="en-IN" dirty="0">
                <a:latin typeface="Times New Roman" panose="02020603050405020304" pitchFamily="18" charset="0"/>
                <a:cs typeface="Times New Roman" panose="02020603050405020304" pitchFamily="18" charset="0"/>
              </a:rPr>
              <a:t>FROM Product</a:t>
            </a:r>
          </a:p>
          <a:p>
            <a:r>
              <a:rPr lang="en-IN" dirty="0">
                <a:latin typeface="Times New Roman" panose="02020603050405020304" pitchFamily="18" charset="0"/>
                <a:cs typeface="Times New Roman" panose="02020603050405020304" pitchFamily="18" charset="0"/>
              </a:rPr>
              <a:t>WHERE Price &gt; (SELECT AVG(Price) FROM Product);</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Output:</a:t>
            </a:r>
          </a:p>
          <a:p>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E92A7C0-F4D4-9FB2-1F51-6C44F0258755}"/>
              </a:ext>
            </a:extLst>
          </p:cNvPr>
          <p:cNvPicPr>
            <a:picLocks noChangeAspect="1"/>
          </p:cNvPicPr>
          <p:nvPr/>
        </p:nvPicPr>
        <p:blipFill>
          <a:blip r:embed="rId2"/>
          <a:stretch>
            <a:fillRect/>
          </a:stretch>
        </p:blipFill>
        <p:spPr>
          <a:xfrm>
            <a:off x="894735" y="3675632"/>
            <a:ext cx="2118546" cy="680057"/>
          </a:xfrm>
          <a:prstGeom prst="rect">
            <a:avLst/>
          </a:prstGeom>
        </p:spPr>
      </p:pic>
      <p:sp>
        <p:nvSpPr>
          <p:cNvPr id="6" name="TextBox 5">
            <a:extLst>
              <a:ext uri="{FF2B5EF4-FFF2-40B4-BE49-F238E27FC236}">
                <a16:creationId xmlns:a16="http://schemas.microsoft.com/office/drawing/2014/main" id="{14B426CD-DF5C-B76C-C7A3-35457902DABB}"/>
              </a:ext>
            </a:extLst>
          </p:cNvPr>
          <p:cNvSpPr txBox="1"/>
          <p:nvPr/>
        </p:nvSpPr>
        <p:spPr>
          <a:xfrm>
            <a:off x="894736" y="4581831"/>
            <a:ext cx="6282812"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Query 2: Display product names with their category names.</a:t>
            </a:r>
          </a:p>
          <a:p>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p.Name</a:t>
            </a:r>
            <a:r>
              <a:rPr lang="en-IN" dirty="0">
                <a:latin typeface="Times New Roman" panose="02020603050405020304" pitchFamily="18" charset="0"/>
                <a:cs typeface="Times New Roman" panose="02020603050405020304" pitchFamily="18" charset="0"/>
              </a:rPr>
              <a:t> AS </a:t>
            </a:r>
            <a:r>
              <a:rPr lang="en-IN" dirty="0" err="1">
                <a:latin typeface="Times New Roman" panose="02020603050405020304" pitchFamily="18" charset="0"/>
                <a:cs typeface="Times New Roman" panose="02020603050405020304" pitchFamily="18" charset="0"/>
              </a:rPr>
              <a:t>Product_Name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c.Name</a:t>
            </a:r>
            <a:r>
              <a:rPr lang="en-IN" dirty="0">
                <a:latin typeface="Times New Roman" panose="02020603050405020304" pitchFamily="18" charset="0"/>
                <a:cs typeface="Times New Roman" panose="02020603050405020304" pitchFamily="18" charset="0"/>
              </a:rPr>
              <a:t> AS </a:t>
            </a:r>
            <a:r>
              <a:rPr lang="en-IN" dirty="0" err="1">
                <a:latin typeface="Times New Roman" panose="02020603050405020304" pitchFamily="18" charset="0"/>
                <a:cs typeface="Times New Roman" panose="02020603050405020304" pitchFamily="18" charset="0"/>
              </a:rPr>
              <a:t>Category_Name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FROM Product p</a:t>
            </a:r>
          </a:p>
          <a:p>
            <a:r>
              <a:rPr lang="en-IN" dirty="0">
                <a:latin typeface="Times New Roman" panose="02020603050405020304" pitchFamily="18" charset="0"/>
                <a:cs typeface="Times New Roman" panose="02020603050405020304" pitchFamily="18" charset="0"/>
              </a:rPr>
              <a:t>JOIN Category c</a:t>
            </a:r>
          </a:p>
          <a:p>
            <a:r>
              <a:rPr lang="en-IN" dirty="0">
                <a:latin typeface="Times New Roman" panose="02020603050405020304" pitchFamily="18" charset="0"/>
                <a:cs typeface="Times New Roman" panose="02020603050405020304" pitchFamily="18" charset="0"/>
              </a:rPr>
              <a:t>ON </a:t>
            </a:r>
            <a:r>
              <a:rPr lang="en-IN" dirty="0" err="1">
                <a:latin typeface="Times New Roman" panose="02020603050405020304" pitchFamily="18" charset="0"/>
                <a:cs typeface="Times New Roman" panose="02020603050405020304" pitchFamily="18" charset="0"/>
              </a:rPr>
              <a:t>p.Category_ID</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c.Category_ID</a:t>
            </a:r>
            <a:r>
              <a:rPr lang="en-IN"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8E008DC3-EECC-065F-DA72-B913FF1FD9E0}"/>
              </a:ext>
            </a:extLst>
          </p:cNvPr>
          <p:cNvSpPr txBox="1"/>
          <p:nvPr/>
        </p:nvSpPr>
        <p:spPr>
          <a:xfrm>
            <a:off x="7413521" y="1919749"/>
            <a:ext cx="3962400" cy="369332"/>
          </a:xfrm>
          <a:prstGeom prst="rect">
            <a:avLst/>
          </a:prstGeom>
          <a:noFill/>
        </p:spPr>
        <p:txBody>
          <a:bodyPr wrap="square" rtlCol="0">
            <a:spAutoFit/>
          </a:bodyPr>
          <a:lstStyle/>
          <a:p>
            <a:r>
              <a:rPr lang="en-IN" b="1"/>
              <a:t>Output:</a:t>
            </a:r>
            <a:endParaRPr lang="en-IN" b="1" dirty="0"/>
          </a:p>
        </p:txBody>
      </p:sp>
      <p:pic>
        <p:nvPicPr>
          <p:cNvPr id="9" name="Picture 8">
            <a:extLst>
              <a:ext uri="{FF2B5EF4-FFF2-40B4-BE49-F238E27FC236}">
                <a16:creationId xmlns:a16="http://schemas.microsoft.com/office/drawing/2014/main" id="{EBA56E8C-68BB-8B16-924E-C1716FB3D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3521" y="2388420"/>
            <a:ext cx="4041060" cy="3717411"/>
          </a:xfrm>
          <a:prstGeom prst="rect">
            <a:avLst/>
          </a:prstGeom>
        </p:spPr>
      </p:pic>
      <p:pic>
        <p:nvPicPr>
          <p:cNvPr id="10" name="Content Placeholder 4">
            <a:extLst>
              <a:ext uri="{FF2B5EF4-FFF2-40B4-BE49-F238E27FC236}">
                <a16:creationId xmlns:a16="http://schemas.microsoft.com/office/drawing/2014/main" id="{61DD817C-0296-CCE5-ED6A-9D8E1C30F42A}"/>
              </a:ext>
            </a:extLst>
          </p:cNvPr>
          <p:cNvPicPr>
            <a:picLocks noChangeAspect="1"/>
          </p:cNvPicPr>
          <p:nvPr/>
        </p:nvPicPr>
        <p:blipFill>
          <a:blip r:embed="rId4"/>
          <a:stretch>
            <a:fillRect/>
          </a:stretch>
        </p:blipFill>
        <p:spPr>
          <a:xfrm>
            <a:off x="169521" y="102524"/>
            <a:ext cx="1981372" cy="777307"/>
          </a:xfrm>
          <a:prstGeom prst="rect">
            <a:avLst/>
          </a:prstGeom>
        </p:spPr>
      </p:pic>
    </p:spTree>
    <p:extLst>
      <p:ext uri="{BB962C8B-B14F-4D97-AF65-F5344CB8AC3E}">
        <p14:creationId xmlns:p14="http://schemas.microsoft.com/office/powerpoint/2010/main" val="929798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3AE37EC-4E0A-071C-1E60-842AD0EB3D74}"/>
              </a:ext>
            </a:extLst>
          </p:cNvPr>
          <p:cNvSpPr txBox="1"/>
          <p:nvPr/>
        </p:nvSpPr>
        <p:spPr>
          <a:xfrm>
            <a:off x="6188852" y="1177412"/>
            <a:ext cx="6096000" cy="175432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Query 4: Find the most expensive product</a:t>
            </a:r>
          </a:p>
          <a:p>
            <a:pPr rtl="0">
              <a:buNone/>
            </a:pPr>
            <a:r>
              <a:rPr lang="en-IN" dirty="0">
                <a:latin typeface="Times New Roman" panose="02020603050405020304" pitchFamily="18" charset="0"/>
                <a:cs typeface="Times New Roman" panose="02020603050405020304" pitchFamily="18" charset="0"/>
              </a:rPr>
              <a:t>SELECT Name, Price</a:t>
            </a: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dirty="0">
                <a:latin typeface="Times New Roman" panose="02020603050405020304" pitchFamily="18" charset="0"/>
                <a:cs typeface="Times New Roman" panose="02020603050405020304" pitchFamily="18" charset="0"/>
              </a:rPr>
              <a:t>WHERE Price = (SELECT MAX(Price) FROM Product);</a:t>
            </a:r>
          </a:p>
          <a:p>
            <a:pPr rtl="0">
              <a:buNone/>
            </a:pPr>
            <a:r>
              <a:rPr lang="en-IN" b="1" dirty="0">
                <a:latin typeface="Times New Roman" panose="02020603050405020304" pitchFamily="18" charset="0"/>
                <a:cs typeface="Times New Roman" panose="02020603050405020304" pitchFamily="18" charset="0"/>
              </a:rPr>
              <a:t>Output:</a:t>
            </a:r>
          </a:p>
          <a:p>
            <a:pPr rtl="0">
              <a:buNone/>
            </a:pPr>
            <a:endParaRPr lang="en-IN"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293478F-85B3-3AD0-6408-A6F53361BC59}"/>
              </a:ext>
            </a:extLst>
          </p:cNvPr>
          <p:cNvPicPr>
            <a:picLocks noChangeAspect="1"/>
          </p:cNvPicPr>
          <p:nvPr/>
        </p:nvPicPr>
        <p:blipFill>
          <a:blip r:embed="rId2"/>
          <a:stretch>
            <a:fillRect/>
          </a:stretch>
        </p:blipFill>
        <p:spPr>
          <a:xfrm>
            <a:off x="6313854" y="2548146"/>
            <a:ext cx="2102231" cy="669500"/>
          </a:xfrm>
          <a:prstGeom prst="rect">
            <a:avLst/>
          </a:prstGeom>
        </p:spPr>
      </p:pic>
      <p:sp>
        <p:nvSpPr>
          <p:cNvPr id="12" name="TextBox 11">
            <a:extLst>
              <a:ext uri="{FF2B5EF4-FFF2-40B4-BE49-F238E27FC236}">
                <a16:creationId xmlns:a16="http://schemas.microsoft.com/office/drawing/2014/main" id="{AE4D2C4E-32DE-C8CE-4F8B-63C0926DBE41}"/>
              </a:ext>
            </a:extLst>
          </p:cNvPr>
          <p:cNvSpPr txBox="1"/>
          <p:nvPr/>
        </p:nvSpPr>
        <p:spPr>
          <a:xfrm>
            <a:off x="6203046" y="3254905"/>
            <a:ext cx="5697793" cy="175432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Query 5: Find products with stock greater than the average stock.</a:t>
            </a:r>
          </a:p>
          <a:p>
            <a:pPr rtl="0">
              <a:buNone/>
            </a:pPr>
            <a:r>
              <a:rPr lang="en-IN" dirty="0">
                <a:latin typeface="Times New Roman" panose="02020603050405020304" pitchFamily="18" charset="0"/>
                <a:cs typeface="Times New Roman" panose="02020603050405020304" pitchFamily="18" charset="0"/>
              </a:rPr>
              <a:t>SELECT Name, Stock</a:t>
            </a: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dirty="0">
                <a:latin typeface="Times New Roman" panose="02020603050405020304" pitchFamily="18" charset="0"/>
                <a:cs typeface="Times New Roman" panose="02020603050405020304" pitchFamily="18" charset="0"/>
              </a:rPr>
              <a:t>WHERE Stock &gt; (SELECT AVG(Stock) FROM Product);</a:t>
            </a:r>
          </a:p>
          <a:p>
            <a:pPr rtl="0">
              <a:buNone/>
            </a:pPr>
            <a:r>
              <a:rPr lang="en-IN" b="1" dirty="0">
                <a:latin typeface="Times New Roman" panose="02020603050405020304" pitchFamily="18" charset="0"/>
                <a:cs typeface="Times New Roman" panose="02020603050405020304" pitchFamily="18" charset="0"/>
              </a:rPr>
              <a:t>Output:</a:t>
            </a:r>
          </a:p>
        </p:txBody>
      </p:sp>
      <p:pic>
        <p:nvPicPr>
          <p:cNvPr id="14" name="Picture 13">
            <a:extLst>
              <a:ext uri="{FF2B5EF4-FFF2-40B4-BE49-F238E27FC236}">
                <a16:creationId xmlns:a16="http://schemas.microsoft.com/office/drawing/2014/main" id="{6B11BB6A-9C57-5453-3B4B-075BC5B88264}"/>
              </a:ext>
            </a:extLst>
          </p:cNvPr>
          <p:cNvPicPr>
            <a:picLocks noChangeAspect="1"/>
          </p:cNvPicPr>
          <p:nvPr/>
        </p:nvPicPr>
        <p:blipFill>
          <a:blip r:embed="rId3"/>
          <a:stretch>
            <a:fillRect/>
          </a:stretch>
        </p:blipFill>
        <p:spPr>
          <a:xfrm>
            <a:off x="6313854" y="4968056"/>
            <a:ext cx="2014069" cy="1735626"/>
          </a:xfrm>
          <a:prstGeom prst="rect">
            <a:avLst/>
          </a:prstGeom>
        </p:spPr>
      </p:pic>
      <p:pic>
        <p:nvPicPr>
          <p:cNvPr id="15" name="Content Placeholder 4">
            <a:extLst>
              <a:ext uri="{FF2B5EF4-FFF2-40B4-BE49-F238E27FC236}">
                <a16:creationId xmlns:a16="http://schemas.microsoft.com/office/drawing/2014/main" id="{FD3842F5-17D8-A4EE-0E2C-A6F2D182E8F9}"/>
              </a:ext>
            </a:extLst>
          </p:cNvPr>
          <p:cNvPicPr>
            <a:picLocks noChangeAspect="1"/>
          </p:cNvPicPr>
          <p:nvPr/>
        </p:nvPicPr>
        <p:blipFill>
          <a:blip r:embed="rId4"/>
          <a:stretch>
            <a:fillRect/>
          </a:stretch>
        </p:blipFill>
        <p:spPr>
          <a:xfrm>
            <a:off x="169521" y="102524"/>
            <a:ext cx="1981372" cy="777307"/>
          </a:xfrm>
          <a:prstGeom prst="rect">
            <a:avLst/>
          </a:prstGeom>
        </p:spPr>
      </p:pic>
      <p:sp>
        <p:nvSpPr>
          <p:cNvPr id="3" name="TextBox 2">
            <a:extLst>
              <a:ext uri="{FF2B5EF4-FFF2-40B4-BE49-F238E27FC236}">
                <a16:creationId xmlns:a16="http://schemas.microsoft.com/office/drawing/2014/main" id="{89C68A86-C11E-06C0-6B1E-6780F667BA45}"/>
              </a:ext>
            </a:extLst>
          </p:cNvPr>
          <p:cNvSpPr txBox="1"/>
          <p:nvPr/>
        </p:nvSpPr>
        <p:spPr>
          <a:xfrm>
            <a:off x="904568" y="1347018"/>
            <a:ext cx="4279342"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Advanced Query – Find products within a price range</a:t>
            </a:r>
          </a:p>
          <a:p>
            <a:r>
              <a:rPr lang="en-IN" dirty="0">
                <a:latin typeface="Times New Roman" panose="02020603050405020304" pitchFamily="18" charset="0"/>
                <a:cs typeface="Times New Roman" panose="02020603050405020304" pitchFamily="18" charset="0"/>
              </a:rPr>
              <a:t>SELECT Name, Price</a:t>
            </a:r>
          </a:p>
          <a:p>
            <a:r>
              <a:rPr lang="en-IN" dirty="0">
                <a:latin typeface="Times New Roman" panose="02020603050405020304" pitchFamily="18" charset="0"/>
                <a:cs typeface="Times New Roman" panose="02020603050405020304" pitchFamily="18" charset="0"/>
              </a:rPr>
              <a:t>FROM Product</a:t>
            </a:r>
          </a:p>
          <a:p>
            <a:r>
              <a:rPr lang="en-IN" dirty="0">
                <a:latin typeface="Times New Roman" panose="02020603050405020304" pitchFamily="18" charset="0"/>
                <a:cs typeface="Times New Roman" panose="02020603050405020304" pitchFamily="18" charset="0"/>
              </a:rPr>
              <a:t>WHERE Price BETWEEN 1000 AND 5000;</a:t>
            </a:r>
          </a:p>
          <a:p>
            <a:r>
              <a:rPr lang="en-IN"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0932B16B-A787-8D57-41B4-BB0906318E9A}"/>
              </a:ext>
            </a:extLst>
          </p:cNvPr>
          <p:cNvPicPr>
            <a:picLocks noChangeAspect="1"/>
          </p:cNvPicPr>
          <p:nvPr/>
        </p:nvPicPr>
        <p:blipFill>
          <a:blip r:embed="rId5"/>
          <a:stretch>
            <a:fillRect/>
          </a:stretch>
        </p:blipFill>
        <p:spPr>
          <a:xfrm>
            <a:off x="981866" y="3378343"/>
            <a:ext cx="2062373" cy="2850927"/>
          </a:xfrm>
          <a:prstGeom prst="rect">
            <a:avLst/>
          </a:prstGeom>
        </p:spPr>
      </p:pic>
    </p:spTree>
    <p:extLst>
      <p:ext uri="{BB962C8B-B14F-4D97-AF65-F5344CB8AC3E}">
        <p14:creationId xmlns:p14="http://schemas.microsoft.com/office/powerpoint/2010/main" val="3403005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1A56E6-33EF-FF74-EBD0-7CBDC1EA1494}"/>
              </a:ext>
            </a:extLst>
          </p:cNvPr>
          <p:cNvSpPr txBox="1"/>
          <p:nvPr/>
        </p:nvSpPr>
        <p:spPr>
          <a:xfrm>
            <a:off x="609597" y="1234315"/>
            <a:ext cx="6096000" cy="175432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Query 6 – Find products with low stock</a:t>
            </a:r>
          </a:p>
          <a:p>
            <a:r>
              <a:rPr lang="en-IN" dirty="0">
                <a:latin typeface="Times New Roman" panose="02020603050405020304" pitchFamily="18" charset="0"/>
                <a:cs typeface="Times New Roman" panose="02020603050405020304" pitchFamily="18" charset="0"/>
              </a:rPr>
              <a:t>SELECT Name, Stock</a:t>
            </a:r>
          </a:p>
          <a:p>
            <a:r>
              <a:rPr lang="en-IN" dirty="0">
                <a:latin typeface="Times New Roman" panose="02020603050405020304" pitchFamily="18" charset="0"/>
                <a:cs typeface="Times New Roman" panose="02020603050405020304" pitchFamily="18" charset="0"/>
              </a:rPr>
              <a:t>FROM Product</a:t>
            </a:r>
          </a:p>
          <a:p>
            <a:r>
              <a:rPr lang="en-IN" dirty="0">
                <a:latin typeface="Times New Roman" panose="02020603050405020304" pitchFamily="18" charset="0"/>
                <a:cs typeface="Times New Roman" panose="02020603050405020304" pitchFamily="18" charset="0"/>
              </a:rPr>
              <a:t>WHERE Stock &lt; 30;</a:t>
            </a:r>
          </a:p>
          <a:p>
            <a:r>
              <a:rPr lang="en-IN" b="1" dirty="0">
                <a:latin typeface="Times New Roman" panose="02020603050405020304" pitchFamily="18" charset="0"/>
                <a:cs typeface="Times New Roman" panose="02020603050405020304" pitchFamily="18" charset="0"/>
              </a:rPr>
              <a:t>Output:</a:t>
            </a:r>
          </a:p>
          <a:p>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784785A-BC8D-7D44-9345-BF1BA7D6EA7F}"/>
              </a:ext>
            </a:extLst>
          </p:cNvPr>
          <p:cNvPicPr>
            <a:picLocks noChangeAspect="1"/>
          </p:cNvPicPr>
          <p:nvPr/>
        </p:nvPicPr>
        <p:blipFill>
          <a:blip r:embed="rId2"/>
          <a:stretch>
            <a:fillRect/>
          </a:stretch>
        </p:blipFill>
        <p:spPr>
          <a:xfrm>
            <a:off x="609597" y="2825897"/>
            <a:ext cx="2215029" cy="1206205"/>
          </a:xfrm>
          <a:prstGeom prst="rect">
            <a:avLst/>
          </a:prstGeom>
        </p:spPr>
      </p:pic>
      <p:sp>
        <p:nvSpPr>
          <p:cNvPr id="9" name="TextBox 8">
            <a:extLst>
              <a:ext uri="{FF2B5EF4-FFF2-40B4-BE49-F238E27FC236}">
                <a16:creationId xmlns:a16="http://schemas.microsoft.com/office/drawing/2014/main" id="{0EEC8036-2B3F-F56D-C29E-6EA8C60BA0A0}"/>
              </a:ext>
            </a:extLst>
          </p:cNvPr>
          <p:cNvSpPr txBox="1"/>
          <p:nvPr/>
        </p:nvSpPr>
        <p:spPr>
          <a:xfrm>
            <a:off x="609597" y="4300069"/>
            <a:ext cx="5624055" cy="120032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 Query  7– Count products in each category</a:t>
            </a:r>
          </a:p>
          <a:p>
            <a:pPr rtl="0">
              <a:buNone/>
            </a:pPr>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Category_ID</a:t>
            </a:r>
            <a:r>
              <a:rPr lang="en-IN" dirty="0">
                <a:latin typeface="Times New Roman" panose="02020603050405020304" pitchFamily="18" charset="0"/>
                <a:cs typeface="Times New Roman" panose="02020603050405020304" pitchFamily="18" charset="0"/>
              </a:rPr>
              <a:t>, COUNT(*) AS </a:t>
            </a:r>
            <a:r>
              <a:rPr lang="en-IN" dirty="0" err="1">
                <a:latin typeface="Times New Roman" panose="02020603050405020304" pitchFamily="18" charset="0"/>
                <a:cs typeface="Times New Roman" panose="02020603050405020304" pitchFamily="18" charset="0"/>
              </a:rPr>
              <a:t>Total_Products</a:t>
            </a: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dirty="0">
                <a:latin typeface="Times New Roman" panose="02020603050405020304" pitchFamily="18" charset="0"/>
                <a:cs typeface="Times New Roman" panose="02020603050405020304" pitchFamily="18" charset="0"/>
              </a:rPr>
              <a:t>GROUP BY </a:t>
            </a:r>
            <a:r>
              <a:rPr lang="en-IN" dirty="0" err="1">
                <a:latin typeface="Times New Roman" panose="02020603050405020304" pitchFamily="18" charset="0"/>
                <a:cs typeface="Times New Roman" panose="02020603050405020304" pitchFamily="18" charset="0"/>
              </a:rPr>
              <a:t>Category_ID</a:t>
            </a:r>
            <a:r>
              <a:rPr lang="en-IN"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645CA725-2AC9-F8C1-BE2A-2A528FF6DEFA}"/>
              </a:ext>
            </a:extLst>
          </p:cNvPr>
          <p:cNvSpPr txBox="1"/>
          <p:nvPr/>
        </p:nvSpPr>
        <p:spPr>
          <a:xfrm>
            <a:off x="6096000" y="1234315"/>
            <a:ext cx="1297858" cy="369332"/>
          </a:xfrm>
          <a:prstGeom prst="rect">
            <a:avLst/>
          </a:prstGeom>
          <a:noFill/>
        </p:spPr>
        <p:txBody>
          <a:bodyPr wrap="square" rtlCol="0">
            <a:spAutoFit/>
          </a:bodyPr>
          <a:lstStyle/>
          <a:p>
            <a:r>
              <a:rPr lang="en-IN" b="1" dirty="0"/>
              <a:t>Output:</a:t>
            </a:r>
          </a:p>
        </p:txBody>
      </p:sp>
      <p:pic>
        <p:nvPicPr>
          <p:cNvPr id="12" name="Picture 11">
            <a:extLst>
              <a:ext uri="{FF2B5EF4-FFF2-40B4-BE49-F238E27FC236}">
                <a16:creationId xmlns:a16="http://schemas.microsoft.com/office/drawing/2014/main" id="{1FBC73E8-E42C-C0A0-A2CA-5908F672108A}"/>
              </a:ext>
            </a:extLst>
          </p:cNvPr>
          <p:cNvPicPr>
            <a:picLocks noChangeAspect="1"/>
          </p:cNvPicPr>
          <p:nvPr/>
        </p:nvPicPr>
        <p:blipFill>
          <a:blip r:embed="rId3"/>
          <a:stretch>
            <a:fillRect/>
          </a:stretch>
        </p:blipFill>
        <p:spPr>
          <a:xfrm>
            <a:off x="6233651" y="1758740"/>
            <a:ext cx="4778477" cy="3649002"/>
          </a:xfrm>
          <a:prstGeom prst="rect">
            <a:avLst/>
          </a:prstGeom>
        </p:spPr>
      </p:pic>
      <p:pic>
        <p:nvPicPr>
          <p:cNvPr id="13" name="Content Placeholder 4">
            <a:extLst>
              <a:ext uri="{FF2B5EF4-FFF2-40B4-BE49-F238E27FC236}">
                <a16:creationId xmlns:a16="http://schemas.microsoft.com/office/drawing/2014/main" id="{70EE7002-C7F7-66D7-8761-CA8190823F1F}"/>
              </a:ext>
            </a:extLst>
          </p:cNvPr>
          <p:cNvPicPr>
            <a:picLocks noChangeAspect="1"/>
          </p:cNvPicPr>
          <p:nvPr/>
        </p:nvPicPr>
        <p:blipFill>
          <a:blip r:embed="rId4"/>
          <a:stretch>
            <a:fillRect/>
          </a:stretch>
        </p:blipFill>
        <p:spPr>
          <a:xfrm>
            <a:off x="169521" y="102524"/>
            <a:ext cx="1981372" cy="777307"/>
          </a:xfrm>
          <a:prstGeom prst="rect">
            <a:avLst/>
          </a:prstGeom>
        </p:spPr>
      </p:pic>
    </p:spTree>
    <p:extLst>
      <p:ext uri="{BB962C8B-B14F-4D97-AF65-F5344CB8AC3E}">
        <p14:creationId xmlns:p14="http://schemas.microsoft.com/office/powerpoint/2010/main" val="3291372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38B666-3F25-24E3-B111-434B58E59C5C}"/>
              </a:ext>
            </a:extLst>
          </p:cNvPr>
          <p:cNvSpPr txBox="1"/>
          <p:nvPr/>
        </p:nvSpPr>
        <p:spPr>
          <a:xfrm>
            <a:off x="816078" y="1463762"/>
            <a:ext cx="6096000" cy="175432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Query 8– Find the second-highest product price</a:t>
            </a:r>
          </a:p>
          <a:p>
            <a:pPr rtl="0">
              <a:buNone/>
            </a:pPr>
            <a:r>
              <a:rPr lang="en-IN" dirty="0">
                <a:latin typeface="Times New Roman" panose="02020603050405020304" pitchFamily="18" charset="0"/>
                <a:cs typeface="Times New Roman" panose="02020603050405020304" pitchFamily="18" charset="0"/>
              </a:rPr>
              <a:t>SELECT MAX(Price) AS </a:t>
            </a:r>
            <a:r>
              <a:rPr lang="en-IN" dirty="0" err="1">
                <a:latin typeface="Times New Roman" panose="02020603050405020304" pitchFamily="18" charset="0"/>
                <a:cs typeface="Times New Roman" panose="02020603050405020304" pitchFamily="18" charset="0"/>
              </a:rPr>
              <a:t>Second_Highest_Price</a:t>
            </a:r>
            <a:endParaRPr lang="en-IN" dirty="0">
              <a:latin typeface="Times New Roman" panose="02020603050405020304" pitchFamily="18" charset="0"/>
              <a:cs typeface="Times New Roman" panose="02020603050405020304" pitchFamily="18" charset="0"/>
            </a:endParaRPr>
          </a:p>
          <a:p>
            <a:pPr rtl="0">
              <a:buNone/>
            </a:pPr>
            <a:r>
              <a:rPr lang="en-IN" dirty="0">
                <a:latin typeface="Times New Roman" panose="02020603050405020304" pitchFamily="18" charset="0"/>
                <a:cs typeface="Times New Roman" panose="02020603050405020304" pitchFamily="18" charset="0"/>
              </a:rPr>
              <a:t>FROM Product</a:t>
            </a:r>
          </a:p>
          <a:p>
            <a:pPr rtl="0">
              <a:buNone/>
            </a:pPr>
            <a:r>
              <a:rPr lang="en-IN" dirty="0">
                <a:latin typeface="Times New Roman" panose="02020603050405020304" pitchFamily="18" charset="0"/>
                <a:cs typeface="Times New Roman" panose="02020603050405020304" pitchFamily="18" charset="0"/>
              </a:rPr>
              <a:t>WHERE Price &lt; (SELECT MAX(Price) FROM Product);</a:t>
            </a:r>
          </a:p>
          <a:p>
            <a:pPr rtl="0">
              <a:buNone/>
            </a:pPr>
            <a:endParaRPr lang="en-IN" dirty="0">
              <a:latin typeface="Times New Roman" panose="02020603050405020304" pitchFamily="18" charset="0"/>
              <a:cs typeface="Times New Roman" panose="02020603050405020304" pitchFamily="18" charset="0"/>
            </a:endParaRPr>
          </a:p>
          <a:p>
            <a:pPr rtl="0">
              <a:buNone/>
            </a:pPr>
            <a:r>
              <a:rPr lang="en-IN"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AA545684-51B0-7937-F6EA-2508CDF05A3E}"/>
              </a:ext>
            </a:extLst>
          </p:cNvPr>
          <p:cNvPicPr>
            <a:picLocks noChangeAspect="1"/>
          </p:cNvPicPr>
          <p:nvPr/>
        </p:nvPicPr>
        <p:blipFill>
          <a:blip r:embed="rId2"/>
          <a:stretch>
            <a:fillRect/>
          </a:stretch>
        </p:blipFill>
        <p:spPr>
          <a:xfrm>
            <a:off x="940087" y="3429000"/>
            <a:ext cx="3325111" cy="807720"/>
          </a:xfrm>
          <a:prstGeom prst="rect">
            <a:avLst/>
          </a:prstGeom>
        </p:spPr>
      </p:pic>
      <p:pic>
        <p:nvPicPr>
          <p:cNvPr id="6" name="Content Placeholder 4">
            <a:extLst>
              <a:ext uri="{FF2B5EF4-FFF2-40B4-BE49-F238E27FC236}">
                <a16:creationId xmlns:a16="http://schemas.microsoft.com/office/drawing/2014/main" id="{F5DC2592-A476-E1E8-2679-33E69BDC7F79}"/>
              </a:ext>
            </a:extLst>
          </p:cNvPr>
          <p:cNvPicPr>
            <a:picLocks noChangeAspect="1"/>
          </p:cNvPicPr>
          <p:nvPr/>
        </p:nvPicPr>
        <p:blipFill>
          <a:blip r:embed="rId3"/>
          <a:stretch>
            <a:fillRect/>
          </a:stretch>
        </p:blipFill>
        <p:spPr>
          <a:xfrm>
            <a:off x="169521" y="102524"/>
            <a:ext cx="1981372" cy="777307"/>
          </a:xfrm>
          <a:prstGeom prst="rect">
            <a:avLst/>
          </a:prstGeom>
        </p:spPr>
      </p:pic>
    </p:spTree>
    <p:extLst>
      <p:ext uri="{BB962C8B-B14F-4D97-AF65-F5344CB8AC3E}">
        <p14:creationId xmlns:p14="http://schemas.microsoft.com/office/powerpoint/2010/main" val="2118558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5F5EFE-6623-3408-293B-B8C98D68927F}"/>
              </a:ext>
            </a:extLst>
          </p:cNvPr>
          <p:cNvSpPr txBox="1"/>
          <p:nvPr/>
        </p:nvSpPr>
        <p:spPr>
          <a:xfrm>
            <a:off x="3716594" y="363793"/>
            <a:ext cx="6695768"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Normalization </a:t>
            </a:r>
            <a:r>
              <a:rPr lang="en-IN" sz="3200" dirty="0" err="1">
                <a:latin typeface="Times New Roman" panose="02020603050405020304" pitchFamily="18" charset="0"/>
                <a:cs typeface="Times New Roman" panose="02020603050405020304" pitchFamily="18" charset="0"/>
              </a:rPr>
              <a:t>Upto</a:t>
            </a:r>
            <a:r>
              <a:rPr lang="en-IN" sz="3200" dirty="0">
                <a:latin typeface="Times New Roman" panose="02020603050405020304" pitchFamily="18" charset="0"/>
                <a:cs typeface="Times New Roman" panose="02020603050405020304" pitchFamily="18" charset="0"/>
              </a:rPr>
              <a:t> 3NF</a:t>
            </a:r>
          </a:p>
        </p:txBody>
      </p:sp>
      <p:sp>
        <p:nvSpPr>
          <p:cNvPr id="4" name="TextBox 3">
            <a:extLst>
              <a:ext uri="{FF2B5EF4-FFF2-40B4-BE49-F238E27FC236}">
                <a16:creationId xmlns:a16="http://schemas.microsoft.com/office/drawing/2014/main" id="{F0CF3DAD-832F-0551-C117-C3B126D1AEEB}"/>
              </a:ext>
            </a:extLst>
          </p:cNvPr>
          <p:cNvSpPr txBox="1"/>
          <p:nvPr/>
        </p:nvSpPr>
        <p:spPr>
          <a:xfrm>
            <a:off x="968478" y="1138895"/>
            <a:ext cx="6096000" cy="1477328"/>
          </a:xfrm>
          <a:prstGeom prst="rect">
            <a:avLst/>
          </a:prstGeom>
          <a:noFill/>
        </p:spPr>
        <p:txBody>
          <a:bodyPr wrap="square">
            <a:spAutoFit/>
          </a:bodyPr>
          <a:lstStyle/>
          <a:p>
            <a:pPr>
              <a:buNone/>
            </a:pPr>
            <a:endParaRPr lang="en-IN" b="1" dirty="0"/>
          </a:p>
          <a:p>
            <a:pPr lvl="0"/>
            <a:endParaRPr lang="en-IN" b="1" dirty="0"/>
          </a:p>
          <a:p>
            <a:pPr lvl="0"/>
            <a:endParaRPr lang="en-IN" b="1" dirty="0"/>
          </a:p>
          <a:p>
            <a:pPr marL="342900" lvl="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lvl="0"/>
            <a:endParaRPr lang="en-IN" dirty="0">
              <a:latin typeface="Times New Roman" panose="02020603050405020304" pitchFamily="18" charset="0"/>
              <a:cs typeface="Times New Roman" panose="02020603050405020304" pitchFamily="18" charset="0"/>
            </a:endParaRPr>
          </a:p>
        </p:txBody>
      </p:sp>
      <p:pic>
        <p:nvPicPr>
          <p:cNvPr id="6" name="Content Placeholder 4">
            <a:extLst>
              <a:ext uri="{FF2B5EF4-FFF2-40B4-BE49-F238E27FC236}">
                <a16:creationId xmlns:a16="http://schemas.microsoft.com/office/drawing/2014/main" id="{DD9DFECA-A5E8-DC2E-7C86-80E964FFE3E2}"/>
              </a:ext>
            </a:extLst>
          </p:cNvPr>
          <p:cNvPicPr>
            <a:picLocks noChangeAspect="1"/>
          </p:cNvPicPr>
          <p:nvPr/>
        </p:nvPicPr>
        <p:blipFill>
          <a:blip r:embed="rId2"/>
          <a:stretch>
            <a:fillRect/>
          </a:stretch>
        </p:blipFill>
        <p:spPr>
          <a:xfrm>
            <a:off x="169521" y="102524"/>
            <a:ext cx="1981372" cy="777307"/>
          </a:xfrm>
          <a:prstGeom prst="rect">
            <a:avLst/>
          </a:prstGeom>
        </p:spPr>
      </p:pic>
      <p:sp>
        <p:nvSpPr>
          <p:cNvPr id="5" name="TextBox 4">
            <a:extLst>
              <a:ext uri="{FF2B5EF4-FFF2-40B4-BE49-F238E27FC236}">
                <a16:creationId xmlns:a16="http://schemas.microsoft.com/office/drawing/2014/main" id="{55807814-64F0-A390-608C-DA64C71D7B8F}"/>
              </a:ext>
            </a:extLst>
          </p:cNvPr>
          <p:cNvSpPr txBox="1"/>
          <p:nvPr/>
        </p:nvSpPr>
        <p:spPr>
          <a:xfrm>
            <a:off x="1071716" y="1030801"/>
            <a:ext cx="8603226" cy="4524315"/>
          </a:xfrm>
          <a:prstGeom prst="rect">
            <a:avLst/>
          </a:prstGeom>
          <a:noFill/>
        </p:spPr>
        <p:txBody>
          <a:bodyPr wrap="square">
            <a:spAutoFit/>
          </a:bodyPr>
          <a:lstStyle/>
          <a:p>
            <a:pPr>
              <a:buNone/>
            </a:pPr>
            <a:r>
              <a:rPr lang="en-IN" b="1" dirty="0"/>
              <a:t>1NF – First Normal Form</a:t>
            </a:r>
          </a:p>
          <a:p>
            <a:pPr>
              <a:buNone/>
            </a:pPr>
            <a:r>
              <a:rPr lang="en-IN" dirty="0"/>
              <a:t>1NF means each column should contain only one value.</a:t>
            </a:r>
            <a:br>
              <a:rPr lang="en-IN" dirty="0"/>
            </a:br>
            <a:r>
              <a:rPr lang="en-IN" dirty="0"/>
              <a:t>There should be no repeated or multiple values in a single cell.</a:t>
            </a:r>
          </a:p>
          <a:p>
            <a:pPr>
              <a:buNone/>
            </a:pPr>
            <a:r>
              <a:rPr lang="en-IN" dirty="0"/>
              <a:t>Example: In our E-Commerce system, each order should have separate product details.</a:t>
            </a:r>
          </a:p>
          <a:p>
            <a:pPr>
              <a:buNone/>
            </a:pPr>
            <a:endParaRPr lang="en-IN" dirty="0"/>
          </a:p>
          <a:p>
            <a:pPr>
              <a:buNone/>
            </a:pPr>
            <a:r>
              <a:rPr lang="en-IN" b="1" dirty="0"/>
              <a:t>2NF – Second Normal Form</a:t>
            </a:r>
          </a:p>
          <a:p>
            <a:pPr>
              <a:buNone/>
            </a:pPr>
            <a:r>
              <a:rPr lang="en-IN" dirty="0"/>
              <a:t>2NF means the table should be in 1NF and all data should depend on the complete primary key.</a:t>
            </a:r>
            <a:br>
              <a:rPr lang="en-IN" dirty="0"/>
            </a:br>
            <a:r>
              <a:rPr lang="en-IN" dirty="0"/>
              <a:t>It helps to reduce unnecessary repeated data.</a:t>
            </a:r>
          </a:p>
          <a:p>
            <a:pPr>
              <a:buNone/>
            </a:pPr>
            <a:r>
              <a:rPr lang="en-IN" dirty="0"/>
              <a:t>Example: Customer details and product details can be stored in separate tables.</a:t>
            </a:r>
          </a:p>
          <a:p>
            <a:pPr>
              <a:buNone/>
            </a:pPr>
            <a:endParaRPr lang="en-IN" b="1" dirty="0"/>
          </a:p>
          <a:p>
            <a:pPr>
              <a:buNone/>
            </a:pPr>
            <a:r>
              <a:rPr lang="en-IN" b="1" dirty="0"/>
              <a:t>3NF – Third Normal Form</a:t>
            </a:r>
          </a:p>
          <a:p>
            <a:pPr>
              <a:buNone/>
            </a:pPr>
            <a:r>
              <a:rPr lang="en-IN" dirty="0"/>
              <a:t>3NF means the table should be in 2NF and non-key data should depend only on the primary key.</a:t>
            </a:r>
            <a:br>
              <a:rPr lang="en-IN" dirty="0"/>
            </a:br>
            <a:r>
              <a:rPr lang="en-IN" dirty="0"/>
              <a:t>It helps to avoid unnecessary dependencies and keeps the database organized.</a:t>
            </a:r>
          </a:p>
        </p:txBody>
      </p:sp>
    </p:spTree>
    <p:extLst>
      <p:ext uri="{BB962C8B-B14F-4D97-AF65-F5344CB8AC3E}">
        <p14:creationId xmlns:p14="http://schemas.microsoft.com/office/powerpoint/2010/main" val="4167647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62CEDFE-6143-C27D-4C59-DE0949A4CE1E}"/>
              </a:ext>
            </a:extLst>
          </p:cNvPr>
          <p:cNvSpPr txBox="1"/>
          <p:nvPr/>
        </p:nvSpPr>
        <p:spPr>
          <a:xfrm>
            <a:off x="760361" y="879831"/>
            <a:ext cx="6096000" cy="64633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1NF – First Normal Form</a:t>
            </a:r>
          </a:p>
          <a:p>
            <a:pPr>
              <a:buNone/>
            </a:pP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B6C9E43-080E-0642-E247-88498CAEDF1C}"/>
              </a:ext>
            </a:extLst>
          </p:cNvPr>
          <p:cNvSpPr txBox="1"/>
          <p:nvPr/>
        </p:nvSpPr>
        <p:spPr>
          <a:xfrm>
            <a:off x="977462" y="1913889"/>
            <a:ext cx="231154" cy="369332"/>
          </a:xfrm>
          <a:prstGeom prst="rect">
            <a:avLst/>
          </a:prstGeom>
          <a:noFill/>
        </p:spPr>
        <p:txBody>
          <a:bodyPr wrap="none" rtlCol="0">
            <a:spAutoFit/>
          </a:bodyPr>
          <a:lstStyle/>
          <a:p>
            <a:r>
              <a:rPr lang="en-IN" dirty="0"/>
              <a:t> </a:t>
            </a:r>
          </a:p>
        </p:txBody>
      </p:sp>
      <p:pic>
        <p:nvPicPr>
          <p:cNvPr id="17" name="Content Placeholder 4">
            <a:extLst>
              <a:ext uri="{FF2B5EF4-FFF2-40B4-BE49-F238E27FC236}">
                <a16:creationId xmlns:a16="http://schemas.microsoft.com/office/drawing/2014/main" id="{8FA8DCA1-70F9-7D00-3C6F-1EA475616995}"/>
              </a:ext>
            </a:extLst>
          </p:cNvPr>
          <p:cNvPicPr>
            <a:picLocks noChangeAspect="1"/>
          </p:cNvPicPr>
          <p:nvPr/>
        </p:nvPicPr>
        <p:blipFill>
          <a:blip r:embed="rId2"/>
          <a:stretch>
            <a:fillRect/>
          </a:stretch>
        </p:blipFill>
        <p:spPr>
          <a:xfrm>
            <a:off x="169521" y="102524"/>
            <a:ext cx="1981372" cy="777307"/>
          </a:xfrm>
          <a:prstGeom prst="rect">
            <a:avLst/>
          </a:prstGeom>
        </p:spPr>
      </p:pic>
      <p:graphicFrame>
        <p:nvGraphicFramePr>
          <p:cNvPr id="3" name="Table 2">
            <a:extLst>
              <a:ext uri="{FF2B5EF4-FFF2-40B4-BE49-F238E27FC236}">
                <a16:creationId xmlns:a16="http://schemas.microsoft.com/office/drawing/2014/main" id="{FC22CC95-2BCD-5B40-A979-34041B0C7460}"/>
              </a:ext>
            </a:extLst>
          </p:cNvPr>
          <p:cNvGraphicFramePr>
            <a:graphicFrameLocks noGrp="1"/>
          </p:cNvGraphicFramePr>
          <p:nvPr>
            <p:extLst>
              <p:ext uri="{D42A27DB-BD31-4B8C-83A1-F6EECF244321}">
                <p14:modId xmlns:p14="http://schemas.microsoft.com/office/powerpoint/2010/main" val="2389051694"/>
              </p:ext>
            </p:extLst>
          </p:nvPr>
        </p:nvGraphicFramePr>
        <p:xfrm>
          <a:off x="610448" y="1425100"/>
          <a:ext cx="8985835" cy="2755066"/>
        </p:xfrm>
        <a:graphic>
          <a:graphicData uri="http://schemas.openxmlformats.org/drawingml/2006/table">
            <a:tbl>
              <a:tblPr>
                <a:tableStyleId>{5C22544A-7EE6-4342-B048-85BDC9FD1C3A}</a:tableStyleId>
              </a:tblPr>
              <a:tblGrid>
                <a:gridCol w="1797167">
                  <a:extLst>
                    <a:ext uri="{9D8B030D-6E8A-4147-A177-3AD203B41FA5}">
                      <a16:colId xmlns:a16="http://schemas.microsoft.com/office/drawing/2014/main" val="1377602143"/>
                    </a:ext>
                  </a:extLst>
                </a:gridCol>
                <a:gridCol w="1797167">
                  <a:extLst>
                    <a:ext uri="{9D8B030D-6E8A-4147-A177-3AD203B41FA5}">
                      <a16:colId xmlns:a16="http://schemas.microsoft.com/office/drawing/2014/main" val="3597201221"/>
                    </a:ext>
                  </a:extLst>
                </a:gridCol>
                <a:gridCol w="2215683">
                  <a:extLst>
                    <a:ext uri="{9D8B030D-6E8A-4147-A177-3AD203B41FA5}">
                      <a16:colId xmlns:a16="http://schemas.microsoft.com/office/drawing/2014/main" val="1933501201"/>
                    </a:ext>
                  </a:extLst>
                </a:gridCol>
                <a:gridCol w="1681316">
                  <a:extLst>
                    <a:ext uri="{9D8B030D-6E8A-4147-A177-3AD203B41FA5}">
                      <a16:colId xmlns:a16="http://schemas.microsoft.com/office/drawing/2014/main" val="4219646489"/>
                    </a:ext>
                  </a:extLst>
                </a:gridCol>
                <a:gridCol w="1494502">
                  <a:extLst>
                    <a:ext uri="{9D8B030D-6E8A-4147-A177-3AD203B41FA5}">
                      <a16:colId xmlns:a16="http://schemas.microsoft.com/office/drawing/2014/main" val="1701827277"/>
                    </a:ext>
                  </a:extLst>
                </a:gridCol>
              </a:tblGrid>
              <a:tr h="560506">
                <a:tc>
                  <a:txBody>
                    <a:bodyPr/>
                    <a:lstStyle/>
                    <a:p>
                      <a:pPr>
                        <a:buNone/>
                      </a:pPr>
                      <a:r>
                        <a:rPr lang="en-IN" dirty="0"/>
                        <a:t>ORDER_ID</a:t>
                      </a:r>
                    </a:p>
                  </a:txBody>
                  <a:tcPr anchor="ctr"/>
                </a:tc>
                <a:tc>
                  <a:txBody>
                    <a:bodyPr/>
                    <a:lstStyle/>
                    <a:p>
                      <a:pPr>
                        <a:buNone/>
                      </a:pPr>
                      <a:r>
                        <a:rPr lang="en-IN"/>
                        <a:t>CUSTOMER_ID</a:t>
                      </a:r>
                    </a:p>
                  </a:txBody>
                  <a:tcPr anchor="ctr"/>
                </a:tc>
                <a:tc>
                  <a:txBody>
                    <a:bodyPr/>
                    <a:lstStyle/>
                    <a:p>
                      <a:pPr>
                        <a:buNone/>
                      </a:pPr>
                      <a:r>
                        <a:rPr lang="en-IN"/>
                        <a:t>CUSTOMER_NAME</a:t>
                      </a:r>
                    </a:p>
                  </a:txBody>
                  <a:tcPr anchor="ctr"/>
                </a:tc>
                <a:tc>
                  <a:txBody>
                    <a:bodyPr/>
                    <a:lstStyle/>
                    <a:p>
                      <a:pPr>
                        <a:buNone/>
                      </a:pPr>
                      <a:r>
                        <a:rPr lang="en-IN" dirty="0"/>
                        <a:t>PRODUCT_ID</a:t>
                      </a:r>
                    </a:p>
                  </a:txBody>
                  <a:tcPr anchor="ctr"/>
                </a:tc>
                <a:tc>
                  <a:txBody>
                    <a:bodyPr/>
                    <a:lstStyle/>
                    <a:p>
                      <a:pPr algn="r">
                        <a:buNone/>
                      </a:pPr>
                      <a:r>
                        <a:rPr lang="en-IN"/>
                        <a:t>QUANTITY</a:t>
                      </a:r>
                    </a:p>
                  </a:txBody>
                  <a:tcPr anchor="ctr"/>
                </a:tc>
                <a:extLst>
                  <a:ext uri="{0D108BD9-81ED-4DB2-BD59-A6C34878D82A}">
                    <a16:rowId xmlns:a16="http://schemas.microsoft.com/office/drawing/2014/main" val="392627535"/>
                  </a:ext>
                </a:extLst>
              </a:tr>
              <a:tr h="320289">
                <a:tc>
                  <a:txBody>
                    <a:bodyPr/>
                    <a:lstStyle/>
                    <a:p>
                      <a:pPr>
                        <a:buNone/>
                      </a:pPr>
                      <a:r>
                        <a:rPr lang="en-IN" dirty="0"/>
                        <a:t>O101</a:t>
                      </a:r>
                    </a:p>
                  </a:txBody>
                  <a:tcPr anchor="ctr"/>
                </a:tc>
                <a:tc>
                  <a:txBody>
                    <a:bodyPr/>
                    <a:lstStyle/>
                    <a:p>
                      <a:pPr>
                        <a:buNone/>
                      </a:pPr>
                      <a:r>
                        <a:rPr lang="en-IN"/>
                        <a:t>C01</a:t>
                      </a:r>
                    </a:p>
                  </a:txBody>
                  <a:tcPr anchor="ctr"/>
                </a:tc>
                <a:tc>
                  <a:txBody>
                    <a:bodyPr/>
                    <a:lstStyle/>
                    <a:p>
                      <a:pPr>
                        <a:buNone/>
                      </a:pPr>
                      <a:r>
                        <a:rPr lang="en-IN"/>
                        <a:t>Ravi</a:t>
                      </a:r>
                    </a:p>
                  </a:txBody>
                  <a:tcPr anchor="ctr"/>
                </a:tc>
                <a:tc>
                  <a:txBody>
                    <a:bodyPr/>
                    <a:lstStyle/>
                    <a:p>
                      <a:pPr>
                        <a:buNone/>
                      </a:pPr>
                      <a:r>
                        <a:rPr lang="en-IN"/>
                        <a:t>P101</a:t>
                      </a:r>
                    </a:p>
                  </a:txBody>
                  <a:tcPr anchor="ctr"/>
                </a:tc>
                <a:tc>
                  <a:txBody>
                    <a:bodyPr/>
                    <a:lstStyle/>
                    <a:p>
                      <a:pPr algn="r">
                        <a:buNone/>
                      </a:pPr>
                      <a:r>
                        <a:rPr lang="en-IN"/>
                        <a:t>2</a:t>
                      </a:r>
                    </a:p>
                  </a:txBody>
                  <a:tcPr anchor="ctr"/>
                </a:tc>
                <a:extLst>
                  <a:ext uri="{0D108BD9-81ED-4DB2-BD59-A6C34878D82A}">
                    <a16:rowId xmlns:a16="http://schemas.microsoft.com/office/drawing/2014/main" val="735048465"/>
                  </a:ext>
                </a:extLst>
              </a:tr>
              <a:tr h="320289">
                <a:tc>
                  <a:txBody>
                    <a:bodyPr/>
                    <a:lstStyle/>
                    <a:p>
                      <a:pPr>
                        <a:buNone/>
                      </a:pPr>
                      <a:r>
                        <a:rPr lang="en-IN"/>
                        <a:t>O102</a:t>
                      </a:r>
                    </a:p>
                  </a:txBody>
                  <a:tcPr anchor="ctr"/>
                </a:tc>
                <a:tc>
                  <a:txBody>
                    <a:bodyPr/>
                    <a:lstStyle/>
                    <a:p>
                      <a:pPr>
                        <a:buNone/>
                      </a:pPr>
                      <a:r>
                        <a:rPr lang="en-IN"/>
                        <a:t>C02</a:t>
                      </a:r>
                    </a:p>
                  </a:txBody>
                  <a:tcPr anchor="ctr"/>
                </a:tc>
                <a:tc>
                  <a:txBody>
                    <a:bodyPr/>
                    <a:lstStyle/>
                    <a:p>
                      <a:pPr>
                        <a:buNone/>
                      </a:pPr>
                      <a:r>
                        <a:rPr lang="en-IN"/>
                        <a:t>Priya</a:t>
                      </a:r>
                    </a:p>
                  </a:txBody>
                  <a:tcPr anchor="ctr"/>
                </a:tc>
                <a:tc>
                  <a:txBody>
                    <a:bodyPr/>
                    <a:lstStyle/>
                    <a:p>
                      <a:pPr>
                        <a:buNone/>
                      </a:pPr>
                      <a:r>
                        <a:rPr lang="en-IN"/>
                        <a:t>P102</a:t>
                      </a:r>
                    </a:p>
                  </a:txBody>
                  <a:tcPr anchor="ctr"/>
                </a:tc>
                <a:tc>
                  <a:txBody>
                    <a:bodyPr/>
                    <a:lstStyle/>
                    <a:p>
                      <a:pPr algn="r">
                        <a:buNone/>
                      </a:pPr>
                      <a:r>
                        <a:rPr lang="en-IN"/>
                        <a:t>1</a:t>
                      </a:r>
                    </a:p>
                  </a:txBody>
                  <a:tcPr anchor="ctr"/>
                </a:tc>
                <a:extLst>
                  <a:ext uri="{0D108BD9-81ED-4DB2-BD59-A6C34878D82A}">
                    <a16:rowId xmlns:a16="http://schemas.microsoft.com/office/drawing/2014/main" val="3966365546"/>
                  </a:ext>
                </a:extLst>
              </a:tr>
              <a:tr h="320289">
                <a:tc>
                  <a:txBody>
                    <a:bodyPr/>
                    <a:lstStyle/>
                    <a:p>
                      <a:pPr>
                        <a:buNone/>
                      </a:pPr>
                      <a:r>
                        <a:rPr lang="en-IN"/>
                        <a:t>O103</a:t>
                      </a:r>
                    </a:p>
                  </a:txBody>
                  <a:tcPr anchor="ctr"/>
                </a:tc>
                <a:tc>
                  <a:txBody>
                    <a:bodyPr/>
                    <a:lstStyle/>
                    <a:p>
                      <a:pPr>
                        <a:buNone/>
                      </a:pPr>
                      <a:r>
                        <a:rPr lang="en-IN"/>
                        <a:t>C03</a:t>
                      </a:r>
                    </a:p>
                  </a:txBody>
                  <a:tcPr anchor="ctr"/>
                </a:tc>
                <a:tc>
                  <a:txBody>
                    <a:bodyPr/>
                    <a:lstStyle/>
                    <a:p>
                      <a:pPr>
                        <a:buNone/>
                      </a:pPr>
                      <a:r>
                        <a:rPr lang="en-IN"/>
                        <a:t>Anu</a:t>
                      </a:r>
                    </a:p>
                  </a:txBody>
                  <a:tcPr anchor="ctr"/>
                </a:tc>
                <a:tc>
                  <a:txBody>
                    <a:bodyPr/>
                    <a:lstStyle/>
                    <a:p>
                      <a:pPr>
                        <a:buNone/>
                      </a:pPr>
                      <a:r>
                        <a:rPr lang="en-IN"/>
                        <a:t>P103</a:t>
                      </a:r>
                    </a:p>
                  </a:txBody>
                  <a:tcPr anchor="ctr"/>
                </a:tc>
                <a:tc>
                  <a:txBody>
                    <a:bodyPr/>
                    <a:lstStyle/>
                    <a:p>
                      <a:pPr algn="r">
                        <a:buNone/>
                      </a:pPr>
                      <a:r>
                        <a:rPr lang="en-IN" dirty="0"/>
                        <a:t>3</a:t>
                      </a:r>
                    </a:p>
                  </a:txBody>
                  <a:tcPr anchor="ctr"/>
                </a:tc>
                <a:extLst>
                  <a:ext uri="{0D108BD9-81ED-4DB2-BD59-A6C34878D82A}">
                    <a16:rowId xmlns:a16="http://schemas.microsoft.com/office/drawing/2014/main" val="719691221"/>
                  </a:ext>
                </a:extLst>
              </a:tr>
              <a:tr h="320289">
                <a:tc>
                  <a:txBody>
                    <a:bodyPr/>
                    <a:lstStyle/>
                    <a:p>
                      <a:pPr>
                        <a:buNone/>
                      </a:pPr>
                      <a:r>
                        <a:rPr lang="en-IN"/>
                        <a:t>O104</a:t>
                      </a:r>
                    </a:p>
                  </a:txBody>
                  <a:tcPr anchor="ctr"/>
                </a:tc>
                <a:tc>
                  <a:txBody>
                    <a:bodyPr/>
                    <a:lstStyle/>
                    <a:p>
                      <a:pPr>
                        <a:buNone/>
                      </a:pPr>
                      <a:r>
                        <a:rPr lang="en-IN"/>
                        <a:t>C01</a:t>
                      </a:r>
                    </a:p>
                  </a:txBody>
                  <a:tcPr anchor="ctr"/>
                </a:tc>
                <a:tc>
                  <a:txBody>
                    <a:bodyPr/>
                    <a:lstStyle/>
                    <a:p>
                      <a:pPr>
                        <a:buNone/>
                      </a:pPr>
                      <a:r>
                        <a:rPr lang="en-IN"/>
                        <a:t>Ravi</a:t>
                      </a:r>
                    </a:p>
                  </a:txBody>
                  <a:tcPr anchor="ctr"/>
                </a:tc>
                <a:tc>
                  <a:txBody>
                    <a:bodyPr/>
                    <a:lstStyle/>
                    <a:p>
                      <a:pPr>
                        <a:buNone/>
                      </a:pPr>
                      <a:r>
                        <a:rPr lang="en-IN"/>
                        <a:t>P104</a:t>
                      </a:r>
                    </a:p>
                  </a:txBody>
                  <a:tcPr anchor="ctr"/>
                </a:tc>
                <a:tc>
                  <a:txBody>
                    <a:bodyPr/>
                    <a:lstStyle/>
                    <a:p>
                      <a:pPr algn="r">
                        <a:buNone/>
                      </a:pPr>
                      <a:r>
                        <a:rPr lang="en-IN"/>
                        <a:t>1</a:t>
                      </a:r>
                    </a:p>
                  </a:txBody>
                  <a:tcPr anchor="ctr"/>
                </a:tc>
                <a:extLst>
                  <a:ext uri="{0D108BD9-81ED-4DB2-BD59-A6C34878D82A}">
                    <a16:rowId xmlns:a16="http://schemas.microsoft.com/office/drawing/2014/main" val="1434183524"/>
                  </a:ext>
                </a:extLst>
              </a:tr>
              <a:tr h="320289">
                <a:tc>
                  <a:txBody>
                    <a:bodyPr/>
                    <a:lstStyle/>
                    <a:p>
                      <a:pPr>
                        <a:buNone/>
                      </a:pPr>
                      <a:r>
                        <a:rPr lang="en-IN"/>
                        <a:t>O105</a:t>
                      </a:r>
                    </a:p>
                  </a:txBody>
                  <a:tcPr anchor="ctr"/>
                </a:tc>
                <a:tc>
                  <a:txBody>
                    <a:bodyPr/>
                    <a:lstStyle/>
                    <a:p>
                      <a:pPr>
                        <a:buNone/>
                      </a:pPr>
                      <a:r>
                        <a:rPr lang="en-IN"/>
                        <a:t>C04</a:t>
                      </a:r>
                    </a:p>
                  </a:txBody>
                  <a:tcPr anchor="ctr"/>
                </a:tc>
                <a:tc>
                  <a:txBody>
                    <a:bodyPr/>
                    <a:lstStyle/>
                    <a:p>
                      <a:pPr>
                        <a:buNone/>
                      </a:pPr>
                      <a:r>
                        <a:rPr lang="en-IN"/>
                        <a:t>Kiran</a:t>
                      </a:r>
                    </a:p>
                  </a:txBody>
                  <a:tcPr anchor="ctr"/>
                </a:tc>
                <a:tc>
                  <a:txBody>
                    <a:bodyPr/>
                    <a:lstStyle/>
                    <a:p>
                      <a:pPr>
                        <a:buNone/>
                      </a:pPr>
                      <a:r>
                        <a:rPr lang="en-IN"/>
                        <a:t>P101</a:t>
                      </a:r>
                    </a:p>
                  </a:txBody>
                  <a:tcPr anchor="ctr"/>
                </a:tc>
                <a:tc>
                  <a:txBody>
                    <a:bodyPr/>
                    <a:lstStyle/>
                    <a:p>
                      <a:pPr algn="r">
                        <a:buNone/>
                      </a:pPr>
                      <a:r>
                        <a:rPr lang="en-IN"/>
                        <a:t>2</a:t>
                      </a:r>
                    </a:p>
                  </a:txBody>
                  <a:tcPr anchor="ctr"/>
                </a:tc>
                <a:extLst>
                  <a:ext uri="{0D108BD9-81ED-4DB2-BD59-A6C34878D82A}">
                    <a16:rowId xmlns:a16="http://schemas.microsoft.com/office/drawing/2014/main" val="983591394"/>
                  </a:ext>
                </a:extLst>
              </a:tr>
              <a:tr h="320289">
                <a:tc>
                  <a:txBody>
                    <a:bodyPr/>
                    <a:lstStyle/>
                    <a:p>
                      <a:pPr>
                        <a:buNone/>
                      </a:pPr>
                      <a:r>
                        <a:rPr lang="en-IN"/>
                        <a:t>O106</a:t>
                      </a:r>
                    </a:p>
                  </a:txBody>
                  <a:tcPr anchor="ctr"/>
                </a:tc>
                <a:tc>
                  <a:txBody>
                    <a:bodyPr/>
                    <a:lstStyle/>
                    <a:p>
                      <a:pPr>
                        <a:buNone/>
                      </a:pPr>
                      <a:r>
                        <a:rPr lang="en-IN"/>
                        <a:t>C05</a:t>
                      </a:r>
                    </a:p>
                  </a:txBody>
                  <a:tcPr anchor="ctr"/>
                </a:tc>
                <a:tc>
                  <a:txBody>
                    <a:bodyPr/>
                    <a:lstStyle/>
                    <a:p>
                      <a:pPr>
                        <a:buNone/>
                      </a:pPr>
                      <a:r>
                        <a:rPr lang="en-IN" dirty="0"/>
                        <a:t>Sita</a:t>
                      </a:r>
                    </a:p>
                  </a:txBody>
                  <a:tcPr anchor="ctr"/>
                </a:tc>
                <a:tc>
                  <a:txBody>
                    <a:bodyPr/>
                    <a:lstStyle/>
                    <a:p>
                      <a:pPr>
                        <a:buNone/>
                      </a:pPr>
                      <a:r>
                        <a:rPr lang="en-IN"/>
                        <a:t>P105</a:t>
                      </a:r>
                    </a:p>
                  </a:txBody>
                  <a:tcPr anchor="ctr"/>
                </a:tc>
                <a:tc>
                  <a:txBody>
                    <a:bodyPr/>
                    <a:lstStyle/>
                    <a:p>
                      <a:pPr algn="r">
                        <a:buNone/>
                      </a:pPr>
                      <a:r>
                        <a:rPr lang="en-IN" dirty="0"/>
                        <a:t>1</a:t>
                      </a:r>
                    </a:p>
                  </a:txBody>
                  <a:tcPr anchor="ctr"/>
                </a:tc>
                <a:extLst>
                  <a:ext uri="{0D108BD9-81ED-4DB2-BD59-A6C34878D82A}">
                    <a16:rowId xmlns:a16="http://schemas.microsoft.com/office/drawing/2014/main" val="2308014810"/>
                  </a:ext>
                </a:extLst>
              </a:tr>
            </a:tbl>
          </a:graphicData>
        </a:graphic>
      </p:graphicFrame>
      <p:sp>
        <p:nvSpPr>
          <p:cNvPr id="6" name="TextBox 5">
            <a:extLst>
              <a:ext uri="{FF2B5EF4-FFF2-40B4-BE49-F238E27FC236}">
                <a16:creationId xmlns:a16="http://schemas.microsoft.com/office/drawing/2014/main" id="{A05610AE-FEE7-7265-5621-55D72B009489}"/>
              </a:ext>
            </a:extLst>
          </p:cNvPr>
          <p:cNvSpPr txBox="1"/>
          <p:nvPr/>
        </p:nvSpPr>
        <p:spPr>
          <a:xfrm>
            <a:off x="630903" y="4414402"/>
            <a:ext cx="6096000" cy="923330"/>
          </a:xfrm>
          <a:prstGeom prst="rect">
            <a:avLst/>
          </a:prstGeom>
          <a:noFill/>
        </p:spPr>
        <p:txBody>
          <a:bodyPr wrap="square">
            <a:spAutoFit/>
          </a:bodyPr>
          <a:lstStyle/>
          <a:p>
            <a:r>
              <a:rPr lang="en-IN" dirty="0"/>
              <a:t>ORDER_ID → CUSTOMER_ID, CUSTOMER_NAME</a:t>
            </a:r>
          </a:p>
          <a:p>
            <a:r>
              <a:rPr lang="en-IN" dirty="0"/>
              <a:t>PRODUCT_ID → PRODUCT_NAME, PRICE</a:t>
            </a:r>
          </a:p>
          <a:p>
            <a:r>
              <a:rPr lang="en-IN" dirty="0"/>
              <a:t>(ORDER_ID, PRODUCT_ID) → QUANTITY</a:t>
            </a:r>
          </a:p>
        </p:txBody>
      </p:sp>
      <p:sp>
        <p:nvSpPr>
          <p:cNvPr id="8" name="TextBox 7">
            <a:extLst>
              <a:ext uri="{FF2B5EF4-FFF2-40B4-BE49-F238E27FC236}">
                <a16:creationId xmlns:a16="http://schemas.microsoft.com/office/drawing/2014/main" id="{43478D5E-7D3F-F56A-50A3-DA24A64C7AB9}"/>
              </a:ext>
            </a:extLst>
          </p:cNvPr>
          <p:cNvSpPr txBox="1"/>
          <p:nvPr/>
        </p:nvSpPr>
        <p:spPr>
          <a:xfrm>
            <a:off x="610448" y="5337732"/>
            <a:ext cx="5837084" cy="369332"/>
          </a:xfrm>
          <a:prstGeom prst="rect">
            <a:avLst/>
          </a:prstGeom>
          <a:noFill/>
        </p:spPr>
        <p:txBody>
          <a:bodyPr wrap="square">
            <a:spAutoFit/>
          </a:bodyPr>
          <a:lstStyle/>
          <a:p>
            <a:r>
              <a:rPr lang="en-IN" dirty="0"/>
              <a:t>PRIMARY KEY: </a:t>
            </a:r>
            <a:r>
              <a:rPr lang="en-IN" dirty="0">
                <a:latin typeface="+mn-lt"/>
              </a:rPr>
              <a:t>(ORDER_ID, PRODUCT_ID)</a:t>
            </a:r>
            <a:endParaRPr lang="en-IN" dirty="0"/>
          </a:p>
        </p:txBody>
      </p:sp>
      <p:sp>
        <p:nvSpPr>
          <p:cNvPr id="10" name="TextBox 9">
            <a:extLst>
              <a:ext uri="{FF2B5EF4-FFF2-40B4-BE49-F238E27FC236}">
                <a16:creationId xmlns:a16="http://schemas.microsoft.com/office/drawing/2014/main" id="{69C28C73-3516-0FF7-F9B5-2AB84D6F7451}"/>
              </a:ext>
            </a:extLst>
          </p:cNvPr>
          <p:cNvSpPr txBox="1"/>
          <p:nvPr/>
        </p:nvSpPr>
        <p:spPr>
          <a:xfrm>
            <a:off x="393290" y="5808036"/>
            <a:ext cx="11267768" cy="646331"/>
          </a:xfrm>
          <a:prstGeom prst="rect">
            <a:avLst/>
          </a:prstGeom>
          <a:noFill/>
        </p:spPr>
        <p:txBody>
          <a:bodyPr wrap="square">
            <a:spAutoFit/>
          </a:bodyPr>
          <a:lstStyle/>
          <a:p>
            <a:r>
              <a:rPr lang="en-IN" b="1" dirty="0"/>
              <a:t>Redundancy</a:t>
            </a:r>
            <a:r>
              <a:rPr lang="en-IN" dirty="0"/>
              <a:t> :In 1NF, all values are atomic, but some customer details may be repeated when the same customer places multiple orders. This can cause data redundancy.</a:t>
            </a:r>
          </a:p>
        </p:txBody>
      </p:sp>
    </p:spTree>
    <p:extLst>
      <p:ext uri="{BB962C8B-B14F-4D97-AF65-F5344CB8AC3E}">
        <p14:creationId xmlns:p14="http://schemas.microsoft.com/office/powerpoint/2010/main" val="892332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Content Placeholder 4">
            <a:extLst>
              <a:ext uri="{FF2B5EF4-FFF2-40B4-BE49-F238E27FC236}">
                <a16:creationId xmlns:a16="http://schemas.microsoft.com/office/drawing/2014/main" id="{2F3B9FB7-8114-4523-D70B-3AC4773FC2DD}"/>
              </a:ext>
            </a:extLst>
          </p:cNvPr>
          <p:cNvPicPr>
            <a:picLocks noChangeAspect="1"/>
          </p:cNvPicPr>
          <p:nvPr/>
        </p:nvPicPr>
        <p:blipFill>
          <a:blip r:embed="rId2"/>
          <a:stretch>
            <a:fillRect/>
          </a:stretch>
        </p:blipFill>
        <p:spPr>
          <a:xfrm>
            <a:off x="169521" y="102524"/>
            <a:ext cx="1981372" cy="777307"/>
          </a:xfrm>
          <a:prstGeom prst="rect">
            <a:avLst/>
          </a:prstGeom>
        </p:spPr>
      </p:pic>
      <p:sp>
        <p:nvSpPr>
          <p:cNvPr id="5" name="TextBox 4">
            <a:extLst>
              <a:ext uri="{FF2B5EF4-FFF2-40B4-BE49-F238E27FC236}">
                <a16:creationId xmlns:a16="http://schemas.microsoft.com/office/drawing/2014/main" id="{3EB80158-8BAF-270B-2041-6FA49BEB25E5}"/>
              </a:ext>
            </a:extLst>
          </p:cNvPr>
          <p:cNvSpPr txBox="1"/>
          <p:nvPr/>
        </p:nvSpPr>
        <p:spPr>
          <a:xfrm>
            <a:off x="3913238" y="260344"/>
            <a:ext cx="6096000" cy="461665"/>
          </a:xfrm>
          <a:prstGeom prst="rect">
            <a:avLst/>
          </a:prstGeom>
          <a:noFill/>
        </p:spPr>
        <p:txBody>
          <a:bodyPr wrap="square">
            <a:spAutoFit/>
          </a:bodyPr>
          <a:lstStyle/>
          <a:p>
            <a:r>
              <a:rPr lang="en-IN" sz="2400" dirty="0"/>
              <a:t>Second Normal Form (2NF)</a:t>
            </a:r>
          </a:p>
        </p:txBody>
      </p:sp>
      <p:sp>
        <p:nvSpPr>
          <p:cNvPr id="10" name="TextBox 9">
            <a:extLst>
              <a:ext uri="{FF2B5EF4-FFF2-40B4-BE49-F238E27FC236}">
                <a16:creationId xmlns:a16="http://schemas.microsoft.com/office/drawing/2014/main" id="{51F4E675-A8CF-FB4A-5C12-D52BE8401E78}"/>
              </a:ext>
            </a:extLst>
          </p:cNvPr>
          <p:cNvSpPr txBox="1"/>
          <p:nvPr/>
        </p:nvSpPr>
        <p:spPr>
          <a:xfrm>
            <a:off x="471947" y="4374473"/>
            <a:ext cx="4866968" cy="1477328"/>
          </a:xfrm>
          <a:prstGeom prst="rect">
            <a:avLst/>
          </a:prstGeom>
          <a:noFill/>
        </p:spPr>
        <p:txBody>
          <a:bodyPr wrap="square">
            <a:spAutoFit/>
          </a:bodyPr>
          <a:lstStyle/>
          <a:p>
            <a:r>
              <a:rPr lang="en-IN" dirty="0"/>
              <a:t>In the 1NF table, customer details and order details are stored together. Here, CUSTOMER_NAME depends only on CUSTOMER_ID, not on the complete key. This creates partial dependency and data repetition.</a:t>
            </a:r>
          </a:p>
        </p:txBody>
      </p:sp>
      <p:sp>
        <p:nvSpPr>
          <p:cNvPr id="14" name="TextBox 13">
            <a:extLst>
              <a:ext uri="{FF2B5EF4-FFF2-40B4-BE49-F238E27FC236}">
                <a16:creationId xmlns:a16="http://schemas.microsoft.com/office/drawing/2014/main" id="{0E00A1F2-9322-06DB-D1BF-382B646A89D4}"/>
              </a:ext>
            </a:extLst>
          </p:cNvPr>
          <p:cNvSpPr txBox="1"/>
          <p:nvPr/>
        </p:nvSpPr>
        <p:spPr>
          <a:xfrm>
            <a:off x="471947" y="5951325"/>
            <a:ext cx="11720053" cy="646331"/>
          </a:xfrm>
          <a:prstGeom prst="rect">
            <a:avLst/>
          </a:prstGeom>
          <a:noFill/>
        </p:spPr>
        <p:txBody>
          <a:bodyPr wrap="square" rtlCol="0">
            <a:spAutoFit/>
          </a:bodyPr>
          <a:lstStyle/>
          <a:p>
            <a:r>
              <a:rPr lang="en-IN" b="1" dirty="0"/>
              <a:t>Redundancy</a:t>
            </a:r>
            <a:r>
              <a:rPr lang="en-IN" dirty="0"/>
              <a:t>:2nfpartial dependency is removed by separating customer details from order details. Therefore, repeated customer information is reduced and redundancy is minimized.</a:t>
            </a:r>
          </a:p>
        </p:txBody>
      </p:sp>
      <p:graphicFrame>
        <p:nvGraphicFramePr>
          <p:cNvPr id="3" name="Table 2">
            <a:extLst>
              <a:ext uri="{FF2B5EF4-FFF2-40B4-BE49-F238E27FC236}">
                <a16:creationId xmlns:a16="http://schemas.microsoft.com/office/drawing/2014/main" id="{92F27618-2008-91C5-B052-4D612F62D5FA}"/>
              </a:ext>
            </a:extLst>
          </p:cNvPr>
          <p:cNvGraphicFramePr>
            <a:graphicFrameLocks noGrp="1"/>
          </p:cNvGraphicFramePr>
          <p:nvPr>
            <p:extLst>
              <p:ext uri="{D42A27DB-BD31-4B8C-83A1-F6EECF244321}">
                <p14:modId xmlns:p14="http://schemas.microsoft.com/office/powerpoint/2010/main" val="3337998850"/>
              </p:ext>
            </p:extLst>
          </p:nvPr>
        </p:nvGraphicFramePr>
        <p:xfrm>
          <a:off x="471947" y="1475055"/>
          <a:ext cx="5624053" cy="2802436"/>
        </p:xfrm>
        <a:graphic>
          <a:graphicData uri="http://schemas.openxmlformats.org/drawingml/2006/table">
            <a:tbl>
              <a:tblPr>
                <a:tableStyleId>{5C22544A-7EE6-4342-B048-85BDC9FD1C3A}</a:tableStyleId>
              </a:tblPr>
              <a:tblGrid>
                <a:gridCol w="1874684">
                  <a:extLst>
                    <a:ext uri="{9D8B030D-6E8A-4147-A177-3AD203B41FA5}">
                      <a16:colId xmlns:a16="http://schemas.microsoft.com/office/drawing/2014/main" val="3769482435"/>
                    </a:ext>
                  </a:extLst>
                </a:gridCol>
                <a:gridCol w="1674763">
                  <a:extLst>
                    <a:ext uri="{9D8B030D-6E8A-4147-A177-3AD203B41FA5}">
                      <a16:colId xmlns:a16="http://schemas.microsoft.com/office/drawing/2014/main" val="2662639347"/>
                    </a:ext>
                  </a:extLst>
                </a:gridCol>
                <a:gridCol w="2074606">
                  <a:extLst>
                    <a:ext uri="{9D8B030D-6E8A-4147-A177-3AD203B41FA5}">
                      <a16:colId xmlns:a16="http://schemas.microsoft.com/office/drawing/2014/main" val="3233785381"/>
                    </a:ext>
                  </a:extLst>
                </a:gridCol>
              </a:tblGrid>
              <a:tr h="607876">
                <a:tc>
                  <a:txBody>
                    <a:bodyPr/>
                    <a:lstStyle/>
                    <a:p>
                      <a:pPr>
                        <a:buNone/>
                      </a:pPr>
                      <a:r>
                        <a:rPr lang="en-IN" dirty="0"/>
                        <a:t>ORDER_ID</a:t>
                      </a:r>
                    </a:p>
                  </a:txBody>
                  <a:tcPr anchor="ctr"/>
                </a:tc>
                <a:tc>
                  <a:txBody>
                    <a:bodyPr/>
                    <a:lstStyle/>
                    <a:p>
                      <a:pPr>
                        <a:buNone/>
                      </a:pPr>
                      <a:r>
                        <a:rPr lang="en-IN"/>
                        <a:t>CUSTOMER_ID</a:t>
                      </a:r>
                    </a:p>
                  </a:txBody>
                  <a:tcPr anchor="ctr"/>
                </a:tc>
                <a:tc>
                  <a:txBody>
                    <a:bodyPr/>
                    <a:lstStyle/>
                    <a:p>
                      <a:pPr>
                        <a:buNone/>
                      </a:pPr>
                      <a:r>
                        <a:rPr lang="en-IN" dirty="0"/>
                        <a:t>CUSTOMER_NAME</a:t>
                      </a:r>
                    </a:p>
                  </a:txBody>
                  <a:tcPr anchor="ctr"/>
                </a:tc>
                <a:extLst>
                  <a:ext uri="{0D108BD9-81ED-4DB2-BD59-A6C34878D82A}">
                    <a16:rowId xmlns:a16="http://schemas.microsoft.com/office/drawing/2014/main" val="3365543162"/>
                  </a:ext>
                </a:extLst>
              </a:tr>
              <a:tr h="347358">
                <a:tc>
                  <a:txBody>
                    <a:bodyPr/>
                    <a:lstStyle/>
                    <a:p>
                      <a:pPr>
                        <a:buNone/>
                      </a:pPr>
                      <a:r>
                        <a:rPr lang="en-IN"/>
                        <a:t>O101</a:t>
                      </a:r>
                    </a:p>
                  </a:txBody>
                  <a:tcPr anchor="ctr"/>
                </a:tc>
                <a:tc>
                  <a:txBody>
                    <a:bodyPr/>
                    <a:lstStyle/>
                    <a:p>
                      <a:pPr>
                        <a:buNone/>
                      </a:pPr>
                      <a:r>
                        <a:rPr lang="en-IN"/>
                        <a:t>C01</a:t>
                      </a:r>
                    </a:p>
                  </a:txBody>
                  <a:tcPr anchor="ctr"/>
                </a:tc>
                <a:tc>
                  <a:txBody>
                    <a:bodyPr/>
                    <a:lstStyle/>
                    <a:p>
                      <a:pPr>
                        <a:buNone/>
                      </a:pPr>
                      <a:r>
                        <a:rPr lang="en-IN" dirty="0"/>
                        <a:t>Ravi</a:t>
                      </a:r>
                    </a:p>
                  </a:txBody>
                  <a:tcPr anchor="ctr"/>
                </a:tc>
                <a:extLst>
                  <a:ext uri="{0D108BD9-81ED-4DB2-BD59-A6C34878D82A}">
                    <a16:rowId xmlns:a16="http://schemas.microsoft.com/office/drawing/2014/main" val="3812495045"/>
                  </a:ext>
                </a:extLst>
              </a:tr>
              <a:tr h="347358">
                <a:tc>
                  <a:txBody>
                    <a:bodyPr/>
                    <a:lstStyle/>
                    <a:p>
                      <a:pPr>
                        <a:buNone/>
                      </a:pPr>
                      <a:r>
                        <a:rPr lang="en-IN" dirty="0"/>
                        <a:t>O102</a:t>
                      </a:r>
                    </a:p>
                  </a:txBody>
                  <a:tcPr anchor="ctr"/>
                </a:tc>
                <a:tc>
                  <a:txBody>
                    <a:bodyPr/>
                    <a:lstStyle/>
                    <a:p>
                      <a:pPr>
                        <a:buNone/>
                      </a:pPr>
                      <a:r>
                        <a:rPr lang="en-IN"/>
                        <a:t>C02</a:t>
                      </a:r>
                    </a:p>
                  </a:txBody>
                  <a:tcPr anchor="ctr"/>
                </a:tc>
                <a:tc>
                  <a:txBody>
                    <a:bodyPr/>
                    <a:lstStyle/>
                    <a:p>
                      <a:pPr>
                        <a:buNone/>
                      </a:pPr>
                      <a:r>
                        <a:rPr lang="en-IN" dirty="0"/>
                        <a:t>Priya</a:t>
                      </a:r>
                    </a:p>
                  </a:txBody>
                  <a:tcPr anchor="ctr"/>
                </a:tc>
                <a:extLst>
                  <a:ext uri="{0D108BD9-81ED-4DB2-BD59-A6C34878D82A}">
                    <a16:rowId xmlns:a16="http://schemas.microsoft.com/office/drawing/2014/main" val="3612005381"/>
                  </a:ext>
                </a:extLst>
              </a:tr>
              <a:tr h="347358">
                <a:tc>
                  <a:txBody>
                    <a:bodyPr/>
                    <a:lstStyle/>
                    <a:p>
                      <a:pPr>
                        <a:buNone/>
                      </a:pPr>
                      <a:r>
                        <a:rPr lang="en-IN"/>
                        <a:t>O103</a:t>
                      </a:r>
                    </a:p>
                  </a:txBody>
                  <a:tcPr anchor="ctr"/>
                </a:tc>
                <a:tc>
                  <a:txBody>
                    <a:bodyPr/>
                    <a:lstStyle/>
                    <a:p>
                      <a:pPr>
                        <a:buNone/>
                      </a:pPr>
                      <a:r>
                        <a:rPr lang="en-IN"/>
                        <a:t>C03</a:t>
                      </a:r>
                    </a:p>
                  </a:txBody>
                  <a:tcPr anchor="ctr"/>
                </a:tc>
                <a:tc>
                  <a:txBody>
                    <a:bodyPr/>
                    <a:lstStyle/>
                    <a:p>
                      <a:pPr>
                        <a:buNone/>
                      </a:pPr>
                      <a:r>
                        <a:rPr lang="en-IN" dirty="0"/>
                        <a:t>Anu</a:t>
                      </a:r>
                    </a:p>
                  </a:txBody>
                  <a:tcPr anchor="ctr"/>
                </a:tc>
                <a:extLst>
                  <a:ext uri="{0D108BD9-81ED-4DB2-BD59-A6C34878D82A}">
                    <a16:rowId xmlns:a16="http://schemas.microsoft.com/office/drawing/2014/main" val="3364179694"/>
                  </a:ext>
                </a:extLst>
              </a:tr>
              <a:tr h="347358">
                <a:tc>
                  <a:txBody>
                    <a:bodyPr/>
                    <a:lstStyle/>
                    <a:p>
                      <a:pPr>
                        <a:buNone/>
                      </a:pPr>
                      <a:r>
                        <a:rPr lang="en-IN"/>
                        <a:t>O104</a:t>
                      </a:r>
                    </a:p>
                  </a:txBody>
                  <a:tcPr anchor="ctr"/>
                </a:tc>
                <a:tc>
                  <a:txBody>
                    <a:bodyPr/>
                    <a:lstStyle/>
                    <a:p>
                      <a:pPr>
                        <a:buNone/>
                      </a:pPr>
                      <a:r>
                        <a:rPr lang="en-IN"/>
                        <a:t>C01</a:t>
                      </a:r>
                    </a:p>
                  </a:txBody>
                  <a:tcPr anchor="ctr"/>
                </a:tc>
                <a:tc>
                  <a:txBody>
                    <a:bodyPr/>
                    <a:lstStyle/>
                    <a:p>
                      <a:pPr>
                        <a:buNone/>
                      </a:pPr>
                      <a:r>
                        <a:rPr lang="en-IN" dirty="0"/>
                        <a:t>Ravi</a:t>
                      </a:r>
                    </a:p>
                  </a:txBody>
                  <a:tcPr anchor="ctr"/>
                </a:tc>
                <a:extLst>
                  <a:ext uri="{0D108BD9-81ED-4DB2-BD59-A6C34878D82A}">
                    <a16:rowId xmlns:a16="http://schemas.microsoft.com/office/drawing/2014/main" val="1383425744"/>
                  </a:ext>
                </a:extLst>
              </a:tr>
              <a:tr h="347358">
                <a:tc>
                  <a:txBody>
                    <a:bodyPr/>
                    <a:lstStyle/>
                    <a:p>
                      <a:pPr>
                        <a:buNone/>
                      </a:pPr>
                      <a:r>
                        <a:rPr lang="en-IN"/>
                        <a:t>O105</a:t>
                      </a:r>
                    </a:p>
                  </a:txBody>
                  <a:tcPr anchor="ctr"/>
                </a:tc>
                <a:tc>
                  <a:txBody>
                    <a:bodyPr/>
                    <a:lstStyle/>
                    <a:p>
                      <a:pPr>
                        <a:buNone/>
                      </a:pPr>
                      <a:r>
                        <a:rPr lang="en-IN"/>
                        <a:t>C04</a:t>
                      </a:r>
                    </a:p>
                  </a:txBody>
                  <a:tcPr anchor="ctr"/>
                </a:tc>
                <a:tc>
                  <a:txBody>
                    <a:bodyPr/>
                    <a:lstStyle/>
                    <a:p>
                      <a:pPr>
                        <a:buNone/>
                      </a:pPr>
                      <a:r>
                        <a:rPr lang="en-IN" dirty="0"/>
                        <a:t>Kiran</a:t>
                      </a:r>
                    </a:p>
                  </a:txBody>
                  <a:tcPr anchor="ctr"/>
                </a:tc>
                <a:extLst>
                  <a:ext uri="{0D108BD9-81ED-4DB2-BD59-A6C34878D82A}">
                    <a16:rowId xmlns:a16="http://schemas.microsoft.com/office/drawing/2014/main" val="504039630"/>
                  </a:ext>
                </a:extLst>
              </a:tr>
              <a:tr h="347358">
                <a:tc>
                  <a:txBody>
                    <a:bodyPr/>
                    <a:lstStyle/>
                    <a:p>
                      <a:pPr>
                        <a:buNone/>
                      </a:pPr>
                      <a:r>
                        <a:rPr lang="en-IN"/>
                        <a:t>O106</a:t>
                      </a:r>
                    </a:p>
                  </a:txBody>
                  <a:tcPr anchor="ctr"/>
                </a:tc>
                <a:tc>
                  <a:txBody>
                    <a:bodyPr/>
                    <a:lstStyle/>
                    <a:p>
                      <a:pPr>
                        <a:buNone/>
                      </a:pPr>
                      <a:r>
                        <a:rPr lang="en-IN"/>
                        <a:t>C05</a:t>
                      </a:r>
                    </a:p>
                  </a:txBody>
                  <a:tcPr anchor="ctr"/>
                </a:tc>
                <a:tc>
                  <a:txBody>
                    <a:bodyPr/>
                    <a:lstStyle/>
                    <a:p>
                      <a:pPr>
                        <a:buNone/>
                      </a:pPr>
                      <a:r>
                        <a:rPr lang="en-IN" dirty="0"/>
                        <a:t>Sita</a:t>
                      </a:r>
                    </a:p>
                  </a:txBody>
                  <a:tcPr anchor="ctr"/>
                </a:tc>
                <a:extLst>
                  <a:ext uri="{0D108BD9-81ED-4DB2-BD59-A6C34878D82A}">
                    <a16:rowId xmlns:a16="http://schemas.microsoft.com/office/drawing/2014/main" val="876621879"/>
                  </a:ext>
                </a:extLst>
              </a:tr>
            </a:tbl>
          </a:graphicData>
        </a:graphic>
      </p:graphicFrame>
      <p:graphicFrame>
        <p:nvGraphicFramePr>
          <p:cNvPr id="8" name="Table 7">
            <a:extLst>
              <a:ext uri="{FF2B5EF4-FFF2-40B4-BE49-F238E27FC236}">
                <a16:creationId xmlns:a16="http://schemas.microsoft.com/office/drawing/2014/main" id="{4AB91688-E97C-31A8-0581-3E6FC003B288}"/>
              </a:ext>
            </a:extLst>
          </p:cNvPr>
          <p:cNvGraphicFramePr>
            <a:graphicFrameLocks noGrp="1"/>
          </p:cNvGraphicFramePr>
          <p:nvPr>
            <p:extLst>
              <p:ext uri="{D42A27DB-BD31-4B8C-83A1-F6EECF244321}">
                <p14:modId xmlns:p14="http://schemas.microsoft.com/office/powerpoint/2010/main" val="1315267821"/>
              </p:ext>
            </p:extLst>
          </p:nvPr>
        </p:nvGraphicFramePr>
        <p:xfrm>
          <a:off x="7177549" y="1475055"/>
          <a:ext cx="4235244" cy="2992171"/>
        </p:xfrm>
        <a:graphic>
          <a:graphicData uri="http://schemas.openxmlformats.org/drawingml/2006/table">
            <a:tbl>
              <a:tblPr>
                <a:tableStyleId>{5C22544A-7EE6-4342-B048-85BDC9FD1C3A}</a:tableStyleId>
              </a:tblPr>
              <a:tblGrid>
                <a:gridCol w="1411748">
                  <a:extLst>
                    <a:ext uri="{9D8B030D-6E8A-4147-A177-3AD203B41FA5}">
                      <a16:colId xmlns:a16="http://schemas.microsoft.com/office/drawing/2014/main" val="1325026521"/>
                    </a:ext>
                  </a:extLst>
                </a:gridCol>
                <a:gridCol w="1528097">
                  <a:extLst>
                    <a:ext uri="{9D8B030D-6E8A-4147-A177-3AD203B41FA5}">
                      <a16:colId xmlns:a16="http://schemas.microsoft.com/office/drawing/2014/main" val="3384579056"/>
                    </a:ext>
                  </a:extLst>
                </a:gridCol>
                <a:gridCol w="1295399">
                  <a:extLst>
                    <a:ext uri="{9D8B030D-6E8A-4147-A177-3AD203B41FA5}">
                      <a16:colId xmlns:a16="http://schemas.microsoft.com/office/drawing/2014/main" val="4017901379"/>
                    </a:ext>
                  </a:extLst>
                </a:gridCol>
              </a:tblGrid>
              <a:tr h="639175">
                <a:tc>
                  <a:txBody>
                    <a:bodyPr/>
                    <a:lstStyle/>
                    <a:p>
                      <a:pPr>
                        <a:buNone/>
                      </a:pPr>
                      <a:r>
                        <a:rPr lang="en-IN" dirty="0"/>
                        <a:t>ORDER_ID</a:t>
                      </a:r>
                    </a:p>
                  </a:txBody>
                  <a:tcPr anchor="ctr"/>
                </a:tc>
                <a:tc>
                  <a:txBody>
                    <a:bodyPr/>
                    <a:lstStyle/>
                    <a:p>
                      <a:pPr>
                        <a:buNone/>
                      </a:pPr>
                      <a:r>
                        <a:rPr lang="en-IN"/>
                        <a:t>PRODUCT_ID</a:t>
                      </a:r>
                    </a:p>
                  </a:txBody>
                  <a:tcPr anchor="ctr"/>
                </a:tc>
                <a:tc>
                  <a:txBody>
                    <a:bodyPr/>
                    <a:lstStyle/>
                    <a:p>
                      <a:pPr algn="r">
                        <a:buNone/>
                      </a:pPr>
                      <a:r>
                        <a:rPr lang="en-IN" dirty="0"/>
                        <a:t>QUANTITY</a:t>
                      </a:r>
                    </a:p>
                  </a:txBody>
                  <a:tcPr anchor="ctr"/>
                </a:tc>
                <a:extLst>
                  <a:ext uri="{0D108BD9-81ED-4DB2-BD59-A6C34878D82A}">
                    <a16:rowId xmlns:a16="http://schemas.microsoft.com/office/drawing/2014/main" val="2605804647"/>
                  </a:ext>
                </a:extLst>
              </a:tr>
              <a:tr h="392166">
                <a:tc>
                  <a:txBody>
                    <a:bodyPr/>
                    <a:lstStyle/>
                    <a:p>
                      <a:pPr>
                        <a:buNone/>
                      </a:pPr>
                      <a:r>
                        <a:rPr lang="en-IN" dirty="0"/>
                        <a:t>O101</a:t>
                      </a:r>
                    </a:p>
                  </a:txBody>
                  <a:tcPr anchor="ctr"/>
                </a:tc>
                <a:tc>
                  <a:txBody>
                    <a:bodyPr/>
                    <a:lstStyle/>
                    <a:p>
                      <a:pPr>
                        <a:buNone/>
                      </a:pPr>
                      <a:r>
                        <a:rPr lang="en-IN"/>
                        <a:t>P101</a:t>
                      </a:r>
                    </a:p>
                  </a:txBody>
                  <a:tcPr anchor="ctr"/>
                </a:tc>
                <a:tc>
                  <a:txBody>
                    <a:bodyPr/>
                    <a:lstStyle/>
                    <a:p>
                      <a:pPr algn="r">
                        <a:buNone/>
                      </a:pPr>
                      <a:r>
                        <a:rPr lang="en-IN"/>
                        <a:t>2</a:t>
                      </a:r>
                    </a:p>
                  </a:txBody>
                  <a:tcPr anchor="ctr"/>
                </a:tc>
                <a:extLst>
                  <a:ext uri="{0D108BD9-81ED-4DB2-BD59-A6C34878D82A}">
                    <a16:rowId xmlns:a16="http://schemas.microsoft.com/office/drawing/2014/main" val="3553572259"/>
                  </a:ext>
                </a:extLst>
              </a:tr>
              <a:tr h="392166">
                <a:tc>
                  <a:txBody>
                    <a:bodyPr/>
                    <a:lstStyle/>
                    <a:p>
                      <a:pPr>
                        <a:buNone/>
                      </a:pPr>
                      <a:r>
                        <a:rPr lang="en-IN"/>
                        <a:t>O102</a:t>
                      </a:r>
                    </a:p>
                  </a:txBody>
                  <a:tcPr anchor="ctr"/>
                </a:tc>
                <a:tc>
                  <a:txBody>
                    <a:bodyPr/>
                    <a:lstStyle/>
                    <a:p>
                      <a:pPr>
                        <a:buNone/>
                      </a:pPr>
                      <a:r>
                        <a:rPr lang="en-IN"/>
                        <a:t>P102</a:t>
                      </a:r>
                    </a:p>
                  </a:txBody>
                  <a:tcPr anchor="ctr"/>
                </a:tc>
                <a:tc>
                  <a:txBody>
                    <a:bodyPr/>
                    <a:lstStyle/>
                    <a:p>
                      <a:pPr algn="r">
                        <a:buNone/>
                      </a:pPr>
                      <a:r>
                        <a:rPr lang="en-IN"/>
                        <a:t>1</a:t>
                      </a:r>
                    </a:p>
                  </a:txBody>
                  <a:tcPr anchor="ctr"/>
                </a:tc>
                <a:extLst>
                  <a:ext uri="{0D108BD9-81ED-4DB2-BD59-A6C34878D82A}">
                    <a16:rowId xmlns:a16="http://schemas.microsoft.com/office/drawing/2014/main" val="34058492"/>
                  </a:ext>
                </a:extLst>
              </a:tr>
              <a:tr h="392166">
                <a:tc>
                  <a:txBody>
                    <a:bodyPr/>
                    <a:lstStyle/>
                    <a:p>
                      <a:pPr>
                        <a:buNone/>
                      </a:pPr>
                      <a:r>
                        <a:rPr lang="en-IN"/>
                        <a:t>O103</a:t>
                      </a:r>
                    </a:p>
                  </a:txBody>
                  <a:tcPr anchor="ctr"/>
                </a:tc>
                <a:tc>
                  <a:txBody>
                    <a:bodyPr/>
                    <a:lstStyle/>
                    <a:p>
                      <a:pPr>
                        <a:buNone/>
                      </a:pPr>
                      <a:r>
                        <a:rPr lang="en-IN"/>
                        <a:t>P103</a:t>
                      </a:r>
                    </a:p>
                  </a:txBody>
                  <a:tcPr anchor="ctr"/>
                </a:tc>
                <a:tc>
                  <a:txBody>
                    <a:bodyPr/>
                    <a:lstStyle/>
                    <a:p>
                      <a:pPr algn="r">
                        <a:buNone/>
                      </a:pPr>
                      <a:r>
                        <a:rPr lang="en-IN"/>
                        <a:t>3</a:t>
                      </a:r>
                    </a:p>
                  </a:txBody>
                  <a:tcPr anchor="ctr"/>
                </a:tc>
                <a:extLst>
                  <a:ext uri="{0D108BD9-81ED-4DB2-BD59-A6C34878D82A}">
                    <a16:rowId xmlns:a16="http://schemas.microsoft.com/office/drawing/2014/main" val="3648885958"/>
                  </a:ext>
                </a:extLst>
              </a:tr>
              <a:tr h="392166">
                <a:tc>
                  <a:txBody>
                    <a:bodyPr/>
                    <a:lstStyle/>
                    <a:p>
                      <a:pPr>
                        <a:buNone/>
                      </a:pPr>
                      <a:r>
                        <a:rPr lang="en-IN"/>
                        <a:t>O104</a:t>
                      </a:r>
                    </a:p>
                  </a:txBody>
                  <a:tcPr anchor="ctr"/>
                </a:tc>
                <a:tc>
                  <a:txBody>
                    <a:bodyPr/>
                    <a:lstStyle/>
                    <a:p>
                      <a:pPr>
                        <a:buNone/>
                      </a:pPr>
                      <a:r>
                        <a:rPr lang="en-IN"/>
                        <a:t>P104</a:t>
                      </a:r>
                    </a:p>
                  </a:txBody>
                  <a:tcPr anchor="ctr"/>
                </a:tc>
                <a:tc>
                  <a:txBody>
                    <a:bodyPr/>
                    <a:lstStyle/>
                    <a:p>
                      <a:pPr algn="r">
                        <a:buNone/>
                      </a:pPr>
                      <a:r>
                        <a:rPr lang="en-IN"/>
                        <a:t>1</a:t>
                      </a:r>
                    </a:p>
                  </a:txBody>
                  <a:tcPr anchor="ctr"/>
                </a:tc>
                <a:extLst>
                  <a:ext uri="{0D108BD9-81ED-4DB2-BD59-A6C34878D82A}">
                    <a16:rowId xmlns:a16="http://schemas.microsoft.com/office/drawing/2014/main" val="1107168177"/>
                  </a:ext>
                </a:extLst>
              </a:tr>
              <a:tr h="392166">
                <a:tc>
                  <a:txBody>
                    <a:bodyPr/>
                    <a:lstStyle/>
                    <a:p>
                      <a:pPr>
                        <a:buNone/>
                      </a:pPr>
                      <a:r>
                        <a:rPr lang="en-IN"/>
                        <a:t>O105</a:t>
                      </a:r>
                    </a:p>
                  </a:txBody>
                  <a:tcPr anchor="ctr"/>
                </a:tc>
                <a:tc>
                  <a:txBody>
                    <a:bodyPr/>
                    <a:lstStyle/>
                    <a:p>
                      <a:pPr>
                        <a:buNone/>
                      </a:pPr>
                      <a:r>
                        <a:rPr lang="en-IN"/>
                        <a:t>P101</a:t>
                      </a:r>
                    </a:p>
                  </a:txBody>
                  <a:tcPr anchor="ctr"/>
                </a:tc>
                <a:tc>
                  <a:txBody>
                    <a:bodyPr/>
                    <a:lstStyle/>
                    <a:p>
                      <a:pPr algn="r">
                        <a:buNone/>
                      </a:pPr>
                      <a:r>
                        <a:rPr lang="en-IN"/>
                        <a:t>2</a:t>
                      </a:r>
                    </a:p>
                  </a:txBody>
                  <a:tcPr anchor="ctr"/>
                </a:tc>
                <a:extLst>
                  <a:ext uri="{0D108BD9-81ED-4DB2-BD59-A6C34878D82A}">
                    <a16:rowId xmlns:a16="http://schemas.microsoft.com/office/drawing/2014/main" val="1544646548"/>
                  </a:ext>
                </a:extLst>
              </a:tr>
              <a:tr h="392166">
                <a:tc>
                  <a:txBody>
                    <a:bodyPr/>
                    <a:lstStyle/>
                    <a:p>
                      <a:pPr>
                        <a:buNone/>
                      </a:pPr>
                      <a:r>
                        <a:rPr lang="en-IN"/>
                        <a:t>O106</a:t>
                      </a:r>
                    </a:p>
                  </a:txBody>
                  <a:tcPr anchor="ctr"/>
                </a:tc>
                <a:tc>
                  <a:txBody>
                    <a:bodyPr/>
                    <a:lstStyle/>
                    <a:p>
                      <a:pPr>
                        <a:buNone/>
                      </a:pPr>
                      <a:r>
                        <a:rPr lang="en-IN"/>
                        <a:t>P105</a:t>
                      </a:r>
                    </a:p>
                  </a:txBody>
                  <a:tcPr anchor="ctr"/>
                </a:tc>
                <a:tc>
                  <a:txBody>
                    <a:bodyPr/>
                    <a:lstStyle/>
                    <a:p>
                      <a:pPr algn="r">
                        <a:buNone/>
                      </a:pPr>
                      <a:r>
                        <a:rPr lang="en-IN" dirty="0"/>
                        <a:t>1</a:t>
                      </a:r>
                    </a:p>
                  </a:txBody>
                  <a:tcPr anchor="ctr"/>
                </a:tc>
                <a:extLst>
                  <a:ext uri="{0D108BD9-81ED-4DB2-BD59-A6C34878D82A}">
                    <a16:rowId xmlns:a16="http://schemas.microsoft.com/office/drawing/2014/main" val="121387410"/>
                  </a:ext>
                </a:extLst>
              </a:tr>
            </a:tbl>
          </a:graphicData>
        </a:graphic>
      </p:graphicFrame>
      <p:sp>
        <p:nvSpPr>
          <p:cNvPr id="9" name="TextBox 8">
            <a:extLst>
              <a:ext uri="{FF2B5EF4-FFF2-40B4-BE49-F238E27FC236}">
                <a16:creationId xmlns:a16="http://schemas.microsoft.com/office/drawing/2014/main" id="{B18FF86F-269A-F681-15CB-7FB942F93A34}"/>
              </a:ext>
            </a:extLst>
          </p:cNvPr>
          <p:cNvSpPr txBox="1"/>
          <p:nvPr/>
        </p:nvSpPr>
        <p:spPr>
          <a:xfrm>
            <a:off x="7610168" y="983226"/>
            <a:ext cx="2139753" cy="369332"/>
          </a:xfrm>
          <a:prstGeom prst="rect">
            <a:avLst/>
          </a:prstGeom>
          <a:noFill/>
        </p:spPr>
        <p:txBody>
          <a:bodyPr wrap="none" rtlCol="0">
            <a:spAutoFit/>
          </a:bodyPr>
          <a:lstStyle/>
          <a:p>
            <a:r>
              <a:rPr lang="en-IN" dirty="0" err="1"/>
              <a:t>Order_Details</a:t>
            </a:r>
            <a:r>
              <a:rPr lang="en-IN" dirty="0"/>
              <a:t> Table</a:t>
            </a:r>
          </a:p>
        </p:txBody>
      </p:sp>
      <p:sp>
        <p:nvSpPr>
          <p:cNvPr id="11" name="TextBox 10">
            <a:extLst>
              <a:ext uri="{FF2B5EF4-FFF2-40B4-BE49-F238E27FC236}">
                <a16:creationId xmlns:a16="http://schemas.microsoft.com/office/drawing/2014/main" id="{294F99A7-61B6-C313-8A6E-6C6214787F35}"/>
              </a:ext>
            </a:extLst>
          </p:cNvPr>
          <p:cNvSpPr txBox="1"/>
          <p:nvPr/>
        </p:nvSpPr>
        <p:spPr>
          <a:xfrm>
            <a:off x="471947" y="1105723"/>
            <a:ext cx="1793459" cy="369332"/>
          </a:xfrm>
          <a:prstGeom prst="rect">
            <a:avLst/>
          </a:prstGeom>
          <a:noFill/>
        </p:spPr>
        <p:txBody>
          <a:bodyPr wrap="square" rtlCol="0">
            <a:spAutoFit/>
          </a:bodyPr>
          <a:lstStyle/>
          <a:p>
            <a:r>
              <a:rPr lang="en-IN" dirty="0"/>
              <a:t>Orders Table</a:t>
            </a:r>
          </a:p>
        </p:txBody>
      </p:sp>
    </p:spTree>
    <p:extLst>
      <p:ext uri="{BB962C8B-B14F-4D97-AF65-F5344CB8AC3E}">
        <p14:creationId xmlns:p14="http://schemas.microsoft.com/office/powerpoint/2010/main" val="991231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7C5C17-17A7-2151-C1B1-1B555C8F0410}"/>
              </a:ext>
            </a:extLst>
          </p:cNvPr>
          <p:cNvSpPr txBox="1"/>
          <p:nvPr/>
        </p:nvSpPr>
        <p:spPr>
          <a:xfrm>
            <a:off x="3116826" y="737302"/>
            <a:ext cx="6096000" cy="461665"/>
          </a:xfrm>
          <a:prstGeom prst="rect">
            <a:avLst/>
          </a:prstGeom>
          <a:noFill/>
        </p:spPr>
        <p:txBody>
          <a:bodyPr wrap="square">
            <a:spAutoFit/>
          </a:bodyPr>
          <a:lstStyle/>
          <a:p>
            <a:r>
              <a:rPr lang="en-IN" sz="2400" dirty="0"/>
              <a:t>Second Normal Form (2NF)</a:t>
            </a:r>
          </a:p>
        </p:txBody>
      </p:sp>
      <p:pic>
        <p:nvPicPr>
          <p:cNvPr id="7" name="Content Placeholder 4">
            <a:extLst>
              <a:ext uri="{FF2B5EF4-FFF2-40B4-BE49-F238E27FC236}">
                <a16:creationId xmlns:a16="http://schemas.microsoft.com/office/drawing/2014/main" id="{55F1842F-CBE4-2C01-4458-617083FF0A0F}"/>
              </a:ext>
            </a:extLst>
          </p:cNvPr>
          <p:cNvPicPr>
            <a:picLocks noChangeAspect="1"/>
          </p:cNvPicPr>
          <p:nvPr/>
        </p:nvPicPr>
        <p:blipFill>
          <a:blip r:embed="rId2"/>
          <a:stretch>
            <a:fillRect/>
          </a:stretch>
        </p:blipFill>
        <p:spPr>
          <a:xfrm>
            <a:off x="169521" y="102524"/>
            <a:ext cx="1981372" cy="777307"/>
          </a:xfrm>
          <a:prstGeom prst="rect">
            <a:avLst/>
          </a:prstGeom>
        </p:spPr>
      </p:pic>
      <p:sp>
        <p:nvSpPr>
          <p:cNvPr id="11" name="TextBox 10">
            <a:extLst>
              <a:ext uri="{FF2B5EF4-FFF2-40B4-BE49-F238E27FC236}">
                <a16:creationId xmlns:a16="http://schemas.microsoft.com/office/drawing/2014/main" id="{1ADA0D5D-1E9F-A49E-1805-66984460000C}"/>
              </a:ext>
            </a:extLst>
          </p:cNvPr>
          <p:cNvSpPr txBox="1"/>
          <p:nvPr/>
        </p:nvSpPr>
        <p:spPr>
          <a:xfrm>
            <a:off x="1150375" y="1907458"/>
            <a:ext cx="7678993" cy="2862322"/>
          </a:xfrm>
          <a:prstGeom prst="rect">
            <a:avLst/>
          </a:prstGeom>
          <a:noFill/>
        </p:spPr>
        <p:txBody>
          <a:bodyPr wrap="square">
            <a:spAutoFit/>
          </a:bodyPr>
          <a:lstStyle/>
          <a:p>
            <a:pPr>
              <a:buNone/>
            </a:pPr>
            <a:r>
              <a:rPr lang="en-IN" dirty="0"/>
              <a:t>In our E-Commerce Order Management System, the data is decomposed into two tables: CUSTOMER and ORDER_DETAILS. The CUSTOMER table stores customer information, while the ORDER_DETAILS table stores order and product information. In the original table, CUSTOMER_NAME depends only on CUSTOMER_ID, which causes partial dependency and data redundancy. To remove this dependency, CUSTOMER_NAME is moved to the CUSTOMER table. The ORDER_DETAILS table contains ORDER_ID, CUSTOMER_ID, PRODUCT_ID, and QUANTITY. Thus, partial dependency is removed, data redundancy is reduced, and the tables are converted into Second Normal Form (2NF).</a:t>
            </a:r>
          </a:p>
        </p:txBody>
      </p:sp>
    </p:spTree>
    <p:extLst>
      <p:ext uri="{BB962C8B-B14F-4D97-AF65-F5344CB8AC3E}">
        <p14:creationId xmlns:p14="http://schemas.microsoft.com/office/powerpoint/2010/main" val="3300852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9A1C189D-CB09-5DD9-6D92-8B4F2E80FD3B}"/>
              </a:ext>
            </a:extLst>
          </p:cNvPr>
          <p:cNvPicPr>
            <a:picLocks noChangeAspect="1"/>
          </p:cNvPicPr>
          <p:nvPr/>
        </p:nvPicPr>
        <p:blipFill>
          <a:blip r:embed="rId2"/>
          <a:stretch>
            <a:fillRect/>
          </a:stretch>
        </p:blipFill>
        <p:spPr>
          <a:xfrm>
            <a:off x="169521" y="102524"/>
            <a:ext cx="1981372" cy="777307"/>
          </a:xfrm>
          <a:prstGeom prst="rect">
            <a:avLst/>
          </a:prstGeom>
        </p:spPr>
      </p:pic>
      <p:sp>
        <p:nvSpPr>
          <p:cNvPr id="10" name="TextBox 9">
            <a:extLst>
              <a:ext uri="{FF2B5EF4-FFF2-40B4-BE49-F238E27FC236}">
                <a16:creationId xmlns:a16="http://schemas.microsoft.com/office/drawing/2014/main" id="{5A095469-9FCB-BCA1-44F9-F4E7D804B906}"/>
              </a:ext>
            </a:extLst>
          </p:cNvPr>
          <p:cNvSpPr txBox="1"/>
          <p:nvPr/>
        </p:nvSpPr>
        <p:spPr>
          <a:xfrm>
            <a:off x="3893574" y="294967"/>
            <a:ext cx="4591695" cy="523220"/>
          </a:xfrm>
          <a:prstGeom prst="rect">
            <a:avLst/>
          </a:prstGeom>
          <a:noFill/>
        </p:spPr>
        <p:txBody>
          <a:bodyPr wrap="square" rtlCol="0">
            <a:spAutoFit/>
          </a:bodyPr>
          <a:lstStyle/>
          <a:p>
            <a:r>
              <a:rPr lang="en-IN" sz="2800" dirty="0"/>
              <a:t>Third Normal Form (3NF)</a:t>
            </a:r>
          </a:p>
        </p:txBody>
      </p:sp>
      <p:sp>
        <p:nvSpPr>
          <p:cNvPr id="5" name="TextBox 4">
            <a:extLst>
              <a:ext uri="{FF2B5EF4-FFF2-40B4-BE49-F238E27FC236}">
                <a16:creationId xmlns:a16="http://schemas.microsoft.com/office/drawing/2014/main" id="{4A82CCC7-3ED6-AF69-2C3C-4D1F5ABF0F49}"/>
              </a:ext>
            </a:extLst>
          </p:cNvPr>
          <p:cNvSpPr txBox="1"/>
          <p:nvPr/>
        </p:nvSpPr>
        <p:spPr>
          <a:xfrm>
            <a:off x="169521" y="5575863"/>
            <a:ext cx="11888502" cy="646331"/>
          </a:xfrm>
          <a:prstGeom prst="rect">
            <a:avLst/>
          </a:prstGeom>
          <a:noFill/>
        </p:spPr>
        <p:txBody>
          <a:bodyPr wrap="square" rtlCol="0">
            <a:spAutoFit/>
          </a:bodyPr>
          <a:lstStyle/>
          <a:p>
            <a:endParaRPr lang="en-IN" dirty="0"/>
          </a:p>
          <a:p>
            <a:endParaRPr lang="en-IN" dirty="0"/>
          </a:p>
        </p:txBody>
      </p:sp>
      <p:sp>
        <p:nvSpPr>
          <p:cNvPr id="2" name="TextBox 1">
            <a:extLst>
              <a:ext uri="{FF2B5EF4-FFF2-40B4-BE49-F238E27FC236}">
                <a16:creationId xmlns:a16="http://schemas.microsoft.com/office/drawing/2014/main" id="{478A139A-BFCF-E913-0C81-542BC3AA759F}"/>
              </a:ext>
            </a:extLst>
          </p:cNvPr>
          <p:cNvSpPr txBox="1"/>
          <p:nvPr/>
        </p:nvSpPr>
        <p:spPr>
          <a:xfrm>
            <a:off x="786581" y="1091380"/>
            <a:ext cx="1754968" cy="369332"/>
          </a:xfrm>
          <a:prstGeom prst="rect">
            <a:avLst/>
          </a:prstGeom>
          <a:noFill/>
        </p:spPr>
        <p:txBody>
          <a:bodyPr wrap="none" rtlCol="0">
            <a:spAutoFit/>
          </a:bodyPr>
          <a:lstStyle/>
          <a:p>
            <a:r>
              <a:rPr lang="en-IN" dirty="0"/>
              <a:t>Customer Table</a:t>
            </a:r>
          </a:p>
        </p:txBody>
      </p:sp>
      <p:graphicFrame>
        <p:nvGraphicFramePr>
          <p:cNvPr id="3" name="Table 2">
            <a:extLst>
              <a:ext uri="{FF2B5EF4-FFF2-40B4-BE49-F238E27FC236}">
                <a16:creationId xmlns:a16="http://schemas.microsoft.com/office/drawing/2014/main" id="{81E86059-38A1-0639-B185-0702D2F0A7F1}"/>
              </a:ext>
            </a:extLst>
          </p:cNvPr>
          <p:cNvGraphicFramePr>
            <a:graphicFrameLocks noGrp="1"/>
          </p:cNvGraphicFramePr>
          <p:nvPr>
            <p:extLst>
              <p:ext uri="{D42A27DB-BD31-4B8C-83A1-F6EECF244321}">
                <p14:modId xmlns:p14="http://schemas.microsoft.com/office/powerpoint/2010/main" val="3322339060"/>
              </p:ext>
            </p:extLst>
          </p:nvPr>
        </p:nvGraphicFramePr>
        <p:xfrm>
          <a:off x="491613" y="1916246"/>
          <a:ext cx="4542503" cy="2507226"/>
        </p:xfrm>
        <a:graphic>
          <a:graphicData uri="http://schemas.openxmlformats.org/drawingml/2006/table">
            <a:tbl>
              <a:tblPr>
                <a:tableStyleId>{5C22544A-7EE6-4342-B048-85BDC9FD1C3A}</a:tableStyleId>
              </a:tblPr>
              <a:tblGrid>
                <a:gridCol w="2295848">
                  <a:extLst>
                    <a:ext uri="{9D8B030D-6E8A-4147-A177-3AD203B41FA5}">
                      <a16:colId xmlns:a16="http://schemas.microsoft.com/office/drawing/2014/main" val="1094362123"/>
                    </a:ext>
                  </a:extLst>
                </a:gridCol>
                <a:gridCol w="2246655">
                  <a:extLst>
                    <a:ext uri="{9D8B030D-6E8A-4147-A177-3AD203B41FA5}">
                      <a16:colId xmlns:a16="http://schemas.microsoft.com/office/drawing/2014/main" val="3982515534"/>
                    </a:ext>
                  </a:extLst>
                </a:gridCol>
              </a:tblGrid>
              <a:tr h="417871">
                <a:tc>
                  <a:txBody>
                    <a:bodyPr/>
                    <a:lstStyle/>
                    <a:p>
                      <a:pPr>
                        <a:buNone/>
                      </a:pPr>
                      <a:r>
                        <a:rPr lang="en-IN"/>
                        <a:t>CUSTOMER_ID</a:t>
                      </a:r>
                    </a:p>
                  </a:txBody>
                  <a:tcPr anchor="ctr"/>
                </a:tc>
                <a:tc>
                  <a:txBody>
                    <a:bodyPr/>
                    <a:lstStyle/>
                    <a:p>
                      <a:pPr>
                        <a:buNone/>
                      </a:pPr>
                      <a:r>
                        <a:rPr lang="en-IN" dirty="0"/>
                        <a:t>CUSTOMER_NAME</a:t>
                      </a:r>
                    </a:p>
                  </a:txBody>
                  <a:tcPr anchor="ctr"/>
                </a:tc>
                <a:extLst>
                  <a:ext uri="{0D108BD9-81ED-4DB2-BD59-A6C34878D82A}">
                    <a16:rowId xmlns:a16="http://schemas.microsoft.com/office/drawing/2014/main" val="419926059"/>
                  </a:ext>
                </a:extLst>
              </a:tr>
              <a:tr h="417871">
                <a:tc>
                  <a:txBody>
                    <a:bodyPr/>
                    <a:lstStyle/>
                    <a:p>
                      <a:pPr>
                        <a:buNone/>
                      </a:pPr>
                      <a:r>
                        <a:rPr lang="en-IN"/>
                        <a:t>C01</a:t>
                      </a:r>
                    </a:p>
                  </a:txBody>
                  <a:tcPr anchor="ctr"/>
                </a:tc>
                <a:tc>
                  <a:txBody>
                    <a:bodyPr/>
                    <a:lstStyle/>
                    <a:p>
                      <a:pPr>
                        <a:buNone/>
                      </a:pPr>
                      <a:r>
                        <a:rPr lang="en-IN"/>
                        <a:t>Ravi</a:t>
                      </a:r>
                    </a:p>
                  </a:txBody>
                  <a:tcPr anchor="ctr"/>
                </a:tc>
                <a:extLst>
                  <a:ext uri="{0D108BD9-81ED-4DB2-BD59-A6C34878D82A}">
                    <a16:rowId xmlns:a16="http://schemas.microsoft.com/office/drawing/2014/main" val="2130442436"/>
                  </a:ext>
                </a:extLst>
              </a:tr>
              <a:tr h="417871">
                <a:tc>
                  <a:txBody>
                    <a:bodyPr/>
                    <a:lstStyle/>
                    <a:p>
                      <a:pPr>
                        <a:buNone/>
                      </a:pPr>
                      <a:r>
                        <a:rPr lang="en-IN"/>
                        <a:t>C02</a:t>
                      </a:r>
                    </a:p>
                  </a:txBody>
                  <a:tcPr anchor="ctr"/>
                </a:tc>
                <a:tc>
                  <a:txBody>
                    <a:bodyPr/>
                    <a:lstStyle/>
                    <a:p>
                      <a:pPr>
                        <a:buNone/>
                      </a:pPr>
                      <a:r>
                        <a:rPr lang="en-IN"/>
                        <a:t>Priya</a:t>
                      </a:r>
                    </a:p>
                  </a:txBody>
                  <a:tcPr anchor="ctr"/>
                </a:tc>
                <a:extLst>
                  <a:ext uri="{0D108BD9-81ED-4DB2-BD59-A6C34878D82A}">
                    <a16:rowId xmlns:a16="http://schemas.microsoft.com/office/drawing/2014/main" val="793440422"/>
                  </a:ext>
                </a:extLst>
              </a:tr>
              <a:tr h="417871">
                <a:tc>
                  <a:txBody>
                    <a:bodyPr/>
                    <a:lstStyle/>
                    <a:p>
                      <a:pPr>
                        <a:buNone/>
                      </a:pPr>
                      <a:r>
                        <a:rPr lang="en-IN"/>
                        <a:t>C03</a:t>
                      </a:r>
                    </a:p>
                  </a:txBody>
                  <a:tcPr anchor="ctr"/>
                </a:tc>
                <a:tc>
                  <a:txBody>
                    <a:bodyPr/>
                    <a:lstStyle/>
                    <a:p>
                      <a:pPr>
                        <a:buNone/>
                      </a:pPr>
                      <a:r>
                        <a:rPr lang="en-IN"/>
                        <a:t>Anu</a:t>
                      </a:r>
                    </a:p>
                  </a:txBody>
                  <a:tcPr anchor="ctr"/>
                </a:tc>
                <a:extLst>
                  <a:ext uri="{0D108BD9-81ED-4DB2-BD59-A6C34878D82A}">
                    <a16:rowId xmlns:a16="http://schemas.microsoft.com/office/drawing/2014/main" val="2690143539"/>
                  </a:ext>
                </a:extLst>
              </a:tr>
              <a:tr h="417871">
                <a:tc>
                  <a:txBody>
                    <a:bodyPr/>
                    <a:lstStyle/>
                    <a:p>
                      <a:pPr>
                        <a:buNone/>
                      </a:pPr>
                      <a:r>
                        <a:rPr lang="en-IN"/>
                        <a:t>C04</a:t>
                      </a:r>
                    </a:p>
                  </a:txBody>
                  <a:tcPr anchor="ctr"/>
                </a:tc>
                <a:tc>
                  <a:txBody>
                    <a:bodyPr/>
                    <a:lstStyle/>
                    <a:p>
                      <a:pPr>
                        <a:buNone/>
                      </a:pPr>
                      <a:r>
                        <a:rPr lang="en-IN"/>
                        <a:t>Kiran</a:t>
                      </a:r>
                    </a:p>
                  </a:txBody>
                  <a:tcPr anchor="ctr"/>
                </a:tc>
                <a:extLst>
                  <a:ext uri="{0D108BD9-81ED-4DB2-BD59-A6C34878D82A}">
                    <a16:rowId xmlns:a16="http://schemas.microsoft.com/office/drawing/2014/main" val="2914177058"/>
                  </a:ext>
                </a:extLst>
              </a:tr>
              <a:tr h="417871">
                <a:tc>
                  <a:txBody>
                    <a:bodyPr/>
                    <a:lstStyle/>
                    <a:p>
                      <a:pPr>
                        <a:buNone/>
                      </a:pPr>
                      <a:r>
                        <a:rPr lang="en-IN"/>
                        <a:t>C05</a:t>
                      </a:r>
                    </a:p>
                  </a:txBody>
                  <a:tcPr anchor="ctr"/>
                </a:tc>
                <a:tc>
                  <a:txBody>
                    <a:bodyPr/>
                    <a:lstStyle/>
                    <a:p>
                      <a:pPr>
                        <a:buNone/>
                      </a:pPr>
                      <a:r>
                        <a:rPr lang="en-IN" dirty="0"/>
                        <a:t>Sita</a:t>
                      </a:r>
                    </a:p>
                  </a:txBody>
                  <a:tcPr anchor="ctr"/>
                </a:tc>
                <a:extLst>
                  <a:ext uri="{0D108BD9-81ED-4DB2-BD59-A6C34878D82A}">
                    <a16:rowId xmlns:a16="http://schemas.microsoft.com/office/drawing/2014/main" val="1454397051"/>
                  </a:ext>
                </a:extLst>
              </a:tr>
            </a:tbl>
          </a:graphicData>
        </a:graphic>
      </p:graphicFrame>
      <p:sp>
        <p:nvSpPr>
          <p:cNvPr id="8" name="TextBox 7">
            <a:extLst>
              <a:ext uri="{FF2B5EF4-FFF2-40B4-BE49-F238E27FC236}">
                <a16:creationId xmlns:a16="http://schemas.microsoft.com/office/drawing/2014/main" id="{14EAE4A1-2EDB-0DF8-1E1D-92BC8C9F2B27}"/>
              </a:ext>
            </a:extLst>
          </p:cNvPr>
          <p:cNvSpPr txBox="1"/>
          <p:nvPr/>
        </p:nvSpPr>
        <p:spPr>
          <a:xfrm>
            <a:off x="8131278" y="1055252"/>
            <a:ext cx="1439497" cy="369332"/>
          </a:xfrm>
          <a:prstGeom prst="rect">
            <a:avLst/>
          </a:prstGeom>
          <a:noFill/>
        </p:spPr>
        <p:txBody>
          <a:bodyPr wrap="none" rtlCol="0">
            <a:spAutoFit/>
          </a:bodyPr>
          <a:lstStyle/>
          <a:p>
            <a:r>
              <a:rPr lang="en-IN" dirty="0"/>
              <a:t>Orders Table</a:t>
            </a:r>
          </a:p>
        </p:txBody>
      </p:sp>
      <p:sp>
        <p:nvSpPr>
          <p:cNvPr id="11" name="TextBox 10">
            <a:extLst>
              <a:ext uri="{FF2B5EF4-FFF2-40B4-BE49-F238E27FC236}">
                <a16:creationId xmlns:a16="http://schemas.microsoft.com/office/drawing/2014/main" id="{D9AD482D-D7C3-0D5E-869D-0B0B8A151D59}"/>
              </a:ext>
            </a:extLst>
          </p:cNvPr>
          <p:cNvSpPr txBox="1"/>
          <p:nvPr/>
        </p:nvSpPr>
        <p:spPr>
          <a:xfrm>
            <a:off x="727587" y="4994787"/>
            <a:ext cx="3034613" cy="646331"/>
          </a:xfrm>
          <a:prstGeom prst="rect">
            <a:avLst/>
          </a:prstGeom>
          <a:noFill/>
        </p:spPr>
        <p:txBody>
          <a:bodyPr wrap="none" rtlCol="0">
            <a:spAutoFit/>
          </a:bodyPr>
          <a:lstStyle/>
          <a:p>
            <a:r>
              <a:rPr lang="en-IN" b="1" dirty="0"/>
              <a:t>Primary Key:</a:t>
            </a:r>
            <a:r>
              <a:rPr lang="en-IN" dirty="0"/>
              <a:t> CUSTOMER_ID</a:t>
            </a:r>
          </a:p>
          <a:p>
            <a:endParaRPr lang="en-IN" dirty="0"/>
          </a:p>
        </p:txBody>
      </p:sp>
      <p:graphicFrame>
        <p:nvGraphicFramePr>
          <p:cNvPr id="14" name="Table 13">
            <a:extLst>
              <a:ext uri="{FF2B5EF4-FFF2-40B4-BE49-F238E27FC236}">
                <a16:creationId xmlns:a16="http://schemas.microsoft.com/office/drawing/2014/main" id="{CE55C539-F382-6D13-8468-7A79380AA751}"/>
              </a:ext>
            </a:extLst>
          </p:cNvPr>
          <p:cNvGraphicFramePr>
            <a:graphicFrameLocks noGrp="1"/>
          </p:cNvGraphicFramePr>
          <p:nvPr>
            <p:extLst>
              <p:ext uri="{D42A27DB-BD31-4B8C-83A1-F6EECF244321}">
                <p14:modId xmlns:p14="http://schemas.microsoft.com/office/powerpoint/2010/main" val="4277087276"/>
              </p:ext>
            </p:extLst>
          </p:nvPr>
        </p:nvGraphicFramePr>
        <p:xfrm>
          <a:off x="6096000" y="1863152"/>
          <a:ext cx="5346291" cy="2560320"/>
        </p:xfrm>
        <a:graphic>
          <a:graphicData uri="http://schemas.openxmlformats.org/drawingml/2006/table">
            <a:tbl>
              <a:tblPr>
                <a:tableStyleId>{5C22544A-7EE6-4342-B048-85BDC9FD1C3A}</a:tableStyleId>
              </a:tblPr>
              <a:tblGrid>
                <a:gridCol w="1782097">
                  <a:extLst>
                    <a:ext uri="{9D8B030D-6E8A-4147-A177-3AD203B41FA5}">
                      <a16:colId xmlns:a16="http://schemas.microsoft.com/office/drawing/2014/main" val="3869062443"/>
                    </a:ext>
                  </a:extLst>
                </a:gridCol>
                <a:gridCol w="1782097">
                  <a:extLst>
                    <a:ext uri="{9D8B030D-6E8A-4147-A177-3AD203B41FA5}">
                      <a16:colId xmlns:a16="http://schemas.microsoft.com/office/drawing/2014/main" val="2446611127"/>
                    </a:ext>
                  </a:extLst>
                </a:gridCol>
                <a:gridCol w="1782097">
                  <a:extLst>
                    <a:ext uri="{9D8B030D-6E8A-4147-A177-3AD203B41FA5}">
                      <a16:colId xmlns:a16="http://schemas.microsoft.com/office/drawing/2014/main" val="3994413061"/>
                    </a:ext>
                  </a:extLst>
                </a:gridCol>
              </a:tblGrid>
              <a:tr h="274835">
                <a:tc>
                  <a:txBody>
                    <a:bodyPr/>
                    <a:lstStyle/>
                    <a:p>
                      <a:pPr>
                        <a:buNone/>
                      </a:pPr>
                      <a:r>
                        <a:rPr lang="en-IN"/>
                        <a:t>ORDER_ID</a:t>
                      </a:r>
                    </a:p>
                  </a:txBody>
                  <a:tcPr anchor="ctr"/>
                </a:tc>
                <a:tc>
                  <a:txBody>
                    <a:bodyPr/>
                    <a:lstStyle/>
                    <a:p>
                      <a:pPr>
                        <a:buNone/>
                      </a:pPr>
                      <a:r>
                        <a:rPr lang="en-IN"/>
                        <a:t>PRODUCT_ID</a:t>
                      </a:r>
                    </a:p>
                  </a:txBody>
                  <a:tcPr anchor="ctr"/>
                </a:tc>
                <a:tc>
                  <a:txBody>
                    <a:bodyPr/>
                    <a:lstStyle/>
                    <a:p>
                      <a:pPr algn="r">
                        <a:buNone/>
                      </a:pPr>
                      <a:r>
                        <a:rPr lang="en-IN"/>
                        <a:t>QUANTITY</a:t>
                      </a:r>
                    </a:p>
                  </a:txBody>
                  <a:tcPr anchor="ctr"/>
                </a:tc>
                <a:extLst>
                  <a:ext uri="{0D108BD9-81ED-4DB2-BD59-A6C34878D82A}">
                    <a16:rowId xmlns:a16="http://schemas.microsoft.com/office/drawing/2014/main" val="387743654"/>
                  </a:ext>
                </a:extLst>
              </a:tr>
              <a:tr h="274835">
                <a:tc>
                  <a:txBody>
                    <a:bodyPr/>
                    <a:lstStyle/>
                    <a:p>
                      <a:pPr>
                        <a:buNone/>
                      </a:pPr>
                      <a:r>
                        <a:rPr lang="en-IN" dirty="0"/>
                        <a:t>O101</a:t>
                      </a:r>
                    </a:p>
                  </a:txBody>
                  <a:tcPr anchor="ctr"/>
                </a:tc>
                <a:tc>
                  <a:txBody>
                    <a:bodyPr/>
                    <a:lstStyle/>
                    <a:p>
                      <a:pPr>
                        <a:buNone/>
                      </a:pPr>
                      <a:r>
                        <a:rPr lang="en-IN"/>
                        <a:t>P101</a:t>
                      </a:r>
                    </a:p>
                  </a:txBody>
                  <a:tcPr anchor="ctr"/>
                </a:tc>
                <a:tc>
                  <a:txBody>
                    <a:bodyPr/>
                    <a:lstStyle/>
                    <a:p>
                      <a:pPr algn="r">
                        <a:buNone/>
                      </a:pPr>
                      <a:r>
                        <a:rPr lang="en-IN"/>
                        <a:t>2</a:t>
                      </a:r>
                    </a:p>
                  </a:txBody>
                  <a:tcPr anchor="ctr"/>
                </a:tc>
                <a:extLst>
                  <a:ext uri="{0D108BD9-81ED-4DB2-BD59-A6C34878D82A}">
                    <a16:rowId xmlns:a16="http://schemas.microsoft.com/office/drawing/2014/main" val="744906968"/>
                  </a:ext>
                </a:extLst>
              </a:tr>
              <a:tr h="274835">
                <a:tc>
                  <a:txBody>
                    <a:bodyPr/>
                    <a:lstStyle/>
                    <a:p>
                      <a:pPr>
                        <a:buNone/>
                      </a:pPr>
                      <a:r>
                        <a:rPr lang="en-IN"/>
                        <a:t>O102</a:t>
                      </a:r>
                    </a:p>
                  </a:txBody>
                  <a:tcPr anchor="ctr"/>
                </a:tc>
                <a:tc>
                  <a:txBody>
                    <a:bodyPr/>
                    <a:lstStyle/>
                    <a:p>
                      <a:pPr>
                        <a:buNone/>
                      </a:pPr>
                      <a:r>
                        <a:rPr lang="en-IN"/>
                        <a:t>P102</a:t>
                      </a:r>
                    </a:p>
                  </a:txBody>
                  <a:tcPr anchor="ctr"/>
                </a:tc>
                <a:tc>
                  <a:txBody>
                    <a:bodyPr/>
                    <a:lstStyle/>
                    <a:p>
                      <a:pPr algn="r">
                        <a:buNone/>
                      </a:pPr>
                      <a:r>
                        <a:rPr lang="en-IN"/>
                        <a:t>1</a:t>
                      </a:r>
                    </a:p>
                  </a:txBody>
                  <a:tcPr anchor="ctr"/>
                </a:tc>
                <a:extLst>
                  <a:ext uri="{0D108BD9-81ED-4DB2-BD59-A6C34878D82A}">
                    <a16:rowId xmlns:a16="http://schemas.microsoft.com/office/drawing/2014/main" val="1286159745"/>
                  </a:ext>
                </a:extLst>
              </a:tr>
              <a:tr h="274835">
                <a:tc>
                  <a:txBody>
                    <a:bodyPr/>
                    <a:lstStyle/>
                    <a:p>
                      <a:pPr>
                        <a:buNone/>
                      </a:pPr>
                      <a:r>
                        <a:rPr lang="en-IN" dirty="0"/>
                        <a:t>O103</a:t>
                      </a:r>
                    </a:p>
                  </a:txBody>
                  <a:tcPr anchor="ctr"/>
                </a:tc>
                <a:tc>
                  <a:txBody>
                    <a:bodyPr/>
                    <a:lstStyle/>
                    <a:p>
                      <a:pPr>
                        <a:buNone/>
                      </a:pPr>
                      <a:r>
                        <a:rPr lang="en-IN" dirty="0"/>
                        <a:t>P103</a:t>
                      </a:r>
                    </a:p>
                  </a:txBody>
                  <a:tcPr anchor="ctr"/>
                </a:tc>
                <a:tc>
                  <a:txBody>
                    <a:bodyPr/>
                    <a:lstStyle/>
                    <a:p>
                      <a:pPr algn="r">
                        <a:buNone/>
                      </a:pPr>
                      <a:r>
                        <a:rPr lang="en-IN"/>
                        <a:t>3</a:t>
                      </a:r>
                    </a:p>
                  </a:txBody>
                  <a:tcPr anchor="ctr"/>
                </a:tc>
                <a:extLst>
                  <a:ext uri="{0D108BD9-81ED-4DB2-BD59-A6C34878D82A}">
                    <a16:rowId xmlns:a16="http://schemas.microsoft.com/office/drawing/2014/main" val="447555163"/>
                  </a:ext>
                </a:extLst>
              </a:tr>
              <a:tr h="274835">
                <a:tc>
                  <a:txBody>
                    <a:bodyPr/>
                    <a:lstStyle/>
                    <a:p>
                      <a:pPr>
                        <a:buNone/>
                      </a:pPr>
                      <a:r>
                        <a:rPr lang="en-IN"/>
                        <a:t>O104</a:t>
                      </a:r>
                    </a:p>
                  </a:txBody>
                  <a:tcPr anchor="ctr"/>
                </a:tc>
                <a:tc>
                  <a:txBody>
                    <a:bodyPr/>
                    <a:lstStyle/>
                    <a:p>
                      <a:pPr>
                        <a:buNone/>
                      </a:pPr>
                      <a:r>
                        <a:rPr lang="en-IN"/>
                        <a:t>P104</a:t>
                      </a:r>
                    </a:p>
                  </a:txBody>
                  <a:tcPr anchor="ctr"/>
                </a:tc>
                <a:tc>
                  <a:txBody>
                    <a:bodyPr/>
                    <a:lstStyle/>
                    <a:p>
                      <a:pPr algn="r">
                        <a:buNone/>
                      </a:pPr>
                      <a:r>
                        <a:rPr lang="en-IN"/>
                        <a:t>1</a:t>
                      </a:r>
                    </a:p>
                  </a:txBody>
                  <a:tcPr anchor="ctr"/>
                </a:tc>
                <a:extLst>
                  <a:ext uri="{0D108BD9-81ED-4DB2-BD59-A6C34878D82A}">
                    <a16:rowId xmlns:a16="http://schemas.microsoft.com/office/drawing/2014/main" val="2235557736"/>
                  </a:ext>
                </a:extLst>
              </a:tr>
              <a:tr h="274835">
                <a:tc>
                  <a:txBody>
                    <a:bodyPr/>
                    <a:lstStyle/>
                    <a:p>
                      <a:pPr>
                        <a:buNone/>
                      </a:pPr>
                      <a:r>
                        <a:rPr lang="en-IN"/>
                        <a:t>O105</a:t>
                      </a:r>
                    </a:p>
                  </a:txBody>
                  <a:tcPr anchor="ctr"/>
                </a:tc>
                <a:tc>
                  <a:txBody>
                    <a:bodyPr/>
                    <a:lstStyle/>
                    <a:p>
                      <a:pPr>
                        <a:buNone/>
                      </a:pPr>
                      <a:r>
                        <a:rPr lang="en-IN"/>
                        <a:t>P101</a:t>
                      </a:r>
                    </a:p>
                  </a:txBody>
                  <a:tcPr anchor="ctr"/>
                </a:tc>
                <a:tc>
                  <a:txBody>
                    <a:bodyPr/>
                    <a:lstStyle/>
                    <a:p>
                      <a:pPr algn="r">
                        <a:buNone/>
                      </a:pPr>
                      <a:r>
                        <a:rPr lang="en-IN"/>
                        <a:t>2</a:t>
                      </a:r>
                    </a:p>
                  </a:txBody>
                  <a:tcPr anchor="ctr"/>
                </a:tc>
                <a:extLst>
                  <a:ext uri="{0D108BD9-81ED-4DB2-BD59-A6C34878D82A}">
                    <a16:rowId xmlns:a16="http://schemas.microsoft.com/office/drawing/2014/main" val="696227818"/>
                  </a:ext>
                </a:extLst>
              </a:tr>
              <a:tr h="274835">
                <a:tc>
                  <a:txBody>
                    <a:bodyPr/>
                    <a:lstStyle/>
                    <a:p>
                      <a:pPr>
                        <a:buNone/>
                      </a:pPr>
                      <a:r>
                        <a:rPr lang="en-IN"/>
                        <a:t>O106</a:t>
                      </a:r>
                    </a:p>
                  </a:txBody>
                  <a:tcPr anchor="ctr"/>
                </a:tc>
                <a:tc>
                  <a:txBody>
                    <a:bodyPr/>
                    <a:lstStyle/>
                    <a:p>
                      <a:pPr>
                        <a:buNone/>
                      </a:pPr>
                      <a:r>
                        <a:rPr lang="en-IN"/>
                        <a:t>P105</a:t>
                      </a:r>
                    </a:p>
                  </a:txBody>
                  <a:tcPr anchor="ctr"/>
                </a:tc>
                <a:tc>
                  <a:txBody>
                    <a:bodyPr/>
                    <a:lstStyle/>
                    <a:p>
                      <a:pPr algn="r">
                        <a:buNone/>
                      </a:pPr>
                      <a:r>
                        <a:rPr lang="en-IN" dirty="0"/>
                        <a:t>1</a:t>
                      </a:r>
                    </a:p>
                  </a:txBody>
                  <a:tcPr anchor="ctr"/>
                </a:tc>
                <a:extLst>
                  <a:ext uri="{0D108BD9-81ED-4DB2-BD59-A6C34878D82A}">
                    <a16:rowId xmlns:a16="http://schemas.microsoft.com/office/drawing/2014/main" val="2280103208"/>
                  </a:ext>
                </a:extLst>
              </a:tr>
            </a:tbl>
          </a:graphicData>
        </a:graphic>
      </p:graphicFrame>
      <p:sp>
        <p:nvSpPr>
          <p:cNvPr id="15" name="TextBox 14">
            <a:extLst>
              <a:ext uri="{FF2B5EF4-FFF2-40B4-BE49-F238E27FC236}">
                <a16:creationId xmlns:a16="http://schemas.microsoft.com/office/drawing/2014/main" id="{F811A5CD-AEEB-F361-A4E8-8B1F9BDB58B6}"/>
              </a:ext>
            </a:extLst>
          </p:cNvPr>
          <p:cNvSpPr txBox="1"/>
          <p:nvPr/>
        </p:nvSpPr>
        <p:spPr>
          <a:xfrm>
            <a:off x="6377797" y="4862040"/>
            <a:ext cx="4104009" cy="369332"/>
          </a:xfrm>
          <a:prstGeom prst="rect">
            <a:avLst/>
          </a:prstGeom>
          <a:noFill/>
        </p:spPr>
        <p:txBody>
          <a:bodyPr wrap="none" rtlCol="0">
            <a:spAutoFit/>
          </a:bodyPr>
          <a:lstStyle/>
          <a:p>
            <a:r>
              <a:rPr lang="en-IN" dirty="0"/>
              <a:t>Primary Key: (ORDER_ID, PRODUCT_ID)</a:t>
            </a:r>
          </a:p>
        </p:txBody>
      </p:sp>
    </p:spTree>
    <p:extLst>
      <p:ext uri="{BB962C8B-B14F-4D97-AF65-F5344CB8AC3E}">
        <p14:creationId xmlns:p14="http://schemas.microsoft.com/office/powerpoint/2010/main" val="3675656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5AC1A3-F0F0-C013-8E28-1517B13AB6BB}"/>
              </a:ext>
            </a:extLst>
          </p:cNvPr>
          <p:cNvSpPr txBox="1"/>
          <p:nvPr/>
        </p:nvSpPr>
        <p:spPr>
          <a:xfrm>
            <a:off x="1081548" y="1600225"/>
            <a:ext cx="7885471" cy="4524315"/>
          </a:xfrm>
          <a:prstGeom prst="rect">
            <a:avLst/>
          </a:prstGeom>
          <a:noFill/>
        </p:spPr>
        <p:txBody>
          <a:bodyPr wrap="square">
            <a:spAutoFit/>
          </a:bodyPr>
          <a:lstStyle/>
          <a:p>
            <a:pPr lvl="0"/>
            <a:r>
              <a:rPr lang="en-IN" sz="1800" dirty="0"/>
              <a:t>3NF is used to remove transitive dependency from the tables.</a:t>
            </a:r>
          </a:p>
          <a:p>
            <a:pPr lvl="0"/>
            <a:r>
              <a:rPr lang="en-IN" sz="1800" dirty="0"/>
              <a:t>In our E-Commerce Order Management System, we separate Customer, Product, and Order information.</a:t>
            </a:r>
          </a:p>
          <a:p>
            <a:pPr lvl="0"/>
            <a:endParaRPr lang="en-IN" sz="1800" dirty="0"/>
          </a:p>
          <a:p>
            <a:pPr lvl="0"/>
            <a:r>
              <a:rPr lang="en-IN" sz="1800" dirty="0" err="1"/>
              <a:t>Customer_ID</a:t>
            </a:r>
            <a:r>
              <a:rPr lang="en-IN" sz="1800" dirty="0"/>
              <a:t> is the primary key in the Customer table, so customer details depend only on </a:t>
            </a:r>
            <a:r>
              <a:rPr lang="en-IN" sz="1800" dirty="0" err="1"/>
              <a:t>Customer_ID</a:t>
            </a:r>
            <a:r>
              <a:rPr lang="en-IN" sz="1800" dirty="0"/>
              <a:t>.</a:t>
            </a:r>
          </a:p>
          <a:p>
            <a:pPr lvl="0"/>
            <a:endParaRPr lang="en-IN" sz="1800" dirty="0"/>
          </a:p>
          <a:p>
            <a:pPr lvl="0"/>
            <a:r>
              <a:rPr lang="en-IN" sz="1800" dirty="0" err="1"/>
              <a:t>Product_ID</a:t>
            </a:r>
            <a:r>
              <a:rPr lang="en-IN" sz="1800" dirty="0"/>
              <a:t> is the primary key in the Product table, so product details depend only on </a:t>
            </a:r>
            <a:r>
              <a:rPr lang="en-IN" sz="1800" dirty="0" err="1"/>
              <a:t>Product_ID</a:t>
            </a:r>
            <a:r>
              <a:rPr lang="en-IN" sz="1800" dirty="0"/>
              <a:t>.</a:t>
            </a:r>
          </a:p>
          <a:p>
            <a:pPr lvl="0"/>
            <a:endParaRPr lang="en-IN" sz="1800" dirty="0"/>
          </a:p>
          <a:p>
            <a:pPr lvl="0"/>
            <a:r>
              <a:rPr lang="en-IN" sz="1800" dirty="0" err="1"/>
              <a:t>Order_ID</a:t>
            </a:r>
            <a:r>
              <a:rPr lang="en-IN" sz="1800" dirty="0"/>
              <a:t> is the primary key in the Order table, and </a:t>
            </a:r>
            <a:r>
              <a:rPr lang="en-IN" sz="1800" dirty="0" err="1"/>
              <a:t>Customer_ID</a:t>
            </a:r>
            <a:r>
              <a:rPr lang="en-IN" sz="1800" dirty="0"/>
              <a:t> connects the order with the customer.</a:t>
            </a:r>
          </a:p>
          <a:p>
            <a:pPr lvl="0"/>
            <a:endParaRPr lang="en-IN" sz="1800" dirty="0"/>
          </a:p>
          <a:p>
            <a:pPr lvl="0"/>
            <a:r>
              <a:rPr lang="en-IN" sz="1800" dirty="0"/>
              <a:t>This separation avoids data duplication and update problems.</a:t>
            </a:r>
          </a:p>
          <a:p>
            <a:pPr lvl="0"/>
            <a:r>
              <a:rPr lang="en-IN" sz="1800" dirty="0"/>
              <a:t>Therefore, 3NF helps maintain data consistency and efficient database management.</a:t>
            </a:r>
          </a:p>
        </p:txBody>
      </p:sp>
      <p:pic>
        <p:nvPicPr>
          <p:cNvPr id="5" name="Content Placeholder 4">
            <a:extLst>
              <a:ext uri="{FF2B5EF4-FFF2-40B4-BE49-F238E27FC236}">
                <a16:creationId xmlns:a16="http://schemas.microsoft.com/office/drawing/2014/main" id="{5CBC76B9-107F-418B-90B5-03DA190AB29F}"/>
              </a:ext>
            </a:extLst>
          </p:cNvPr>
          <p:cNvPicPr>
            <a:picLocks noChangeAspect="1"/>
          </p:cNvPicPr>
          <p:nvPr/>
        </p:nvPicPr>
        <p:blipFill>
          <a:blip r:embed="rId2"/>
          <a:stretch>
            <a:fillRect/>
          </a:stretch>
        </p:blipFill>
        <p:spPr>
          <a:xfrm>
            <a:off x="169521" y="102524"/>
            <a:ext cx="1981372" cy="777307"/>
          </a:xfrm>
          <a:prstGeom prst="rect">
            <a:avLst/>
          </a:prstGeom>
        </p:spPr>
      </p:pic>
      <p:sp>
        <p:nvSpPr>
          <p:cNvPr id="6" name="TextBox 5">
            <a:extLst>
              <a:ext uri="{FF2B5EF4-FFF2-40B4-BE49-F238E27FC236}">
                <a16:creationId xmlns:a16="http://schemas.microsoft.com/office/drawing/2014/main" id="{702FFB3E-066D-6925-297E-E8D265C6CF74}"/>
              </a:ext>
            </a:extLst>
          </p:cNvPr>
          <p:cNvSpPr txBox="1"/>
          <p:nvPr/>
        </p:nvSpPr>
        <p:spPr>
          <a:xfrm>
            <a:off x="4105601" y="619432"/>
            <a:ext cx="3980797" cy="830997"/>
          </a:xfrm>
          <a:prstGeom prst="rect">
            <a:avLst/>
          </a:prstGeom>
          <a:noFill/>
        </p:spPr>
        <p:txBody>
          <a:bodyPr wrap="square" rtlCol="0">
            <a:spAutoFit/>
          </a:bodyPr>
          <a:lstStyle/>
          <a:p>
            <a:r>
              <a:rPr lang="en-IN" sz="2400" dirty="0"/>
              <a:t>Third Normal Form (3NF)</a:t>
            </a:r>
          </a:p>
          <a:p>
            <a:endParaRPr lang="en-IN" sz="2400" dirty="0"/>
          </a:p>
        </p:txBody>
      </p:sp>
    </p:spTree>
    <p:extLst>
      <p:ext uri="{BB962C8B-B14F-4D97-AF65-F5344CB8AC3E}">
        <p14:creationId xmlns:p14="http://schemas.microsoft.com/office/powerpoint/2010/main" val="13606039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5A5F5B77-3251-E7A6-5E93-B4086BC4DCA6}"/>
              </a:ext>
            </a:extLst>
          </p:cNvPr>
          <p:cNvPicPr>
            <a:picLocks noChangeAspect="1"/>
          </p:cNvPicPr>
          <p:nvPr/>
        </p:nvPicPr>
        <p:blipFill>
          <a:blip r:embed="rId2"/>
          <a:stretch>
            <a:fillRect/>
          </a:stretch>
        </p:blipFill>
        <p:spPr>
          <a:xfrm>
            <a:off x="169521" y="102524"/>
            <a:ext cx="1981372" cy="777307"/>
          </a:xfrm>
          <a:prstGeom prst="rect">
            <a:avLst/>
          </a:prstGeom>
        </p:spPr>
      </p:pic>
      <p:sp>
        <p:nvSpPr>
          <p:cNvPr id="5" name="TextBox 4">
            <a:extLst>
              <a:ext uri="{FF2B5EF4-FFF2-40B4-BE49-F238E27FC236}">
                <a16:creationId xmlns:a16="http://schemas.microsoft.com/office/drawing/2014/main" id="{EC86A57F-2490-B5C6-3590-A27BCFCA5124}"/>
              </a:ext>
            </a:extLst>
          </p:cNvPr>
          <p:cNvSpPr txBox="1"/>
          <p:nvPr/>
        </p:nvSpPr>
        <p:spPr>
          <a:xfrm>
            <a:off x="1160207" y="1279493"/>
            <a:ext cx="6096000" cy="646331"/>
          </a:xfrm>
          <a:prstGeom prst="rect">
            <a:avLst/>
          </a:prstGeom>
          <a:noFill/>
        </p:spPr>
        <p:txBody>
          <a:bodyPr wrap="square">
            <a:spAutoFit/>
          </a:bodyPr>
          <a:lstStyle/>
          <a:p>
            <a:r>
              <a:rPr lang="en-IN" sz="3600" dirty="0">
                <a:solidFill>
                  <a:schemeClr val="tx2"/>
                </a:solidFill>
              </a:rPr>
              <a:t>Conclusion</a:t>
            </a:r>
            <a:endParaRPr lang="en-IN" dirty="0"/>
          </a:p>
        </p:txBody>
      </p:sp>
      <p:sp>
        <p:nvSpPr>
          <p:cNvPr id="7" name="TextBox 6">
            <a:extLst>
              <a:ext uri="{FF2B5EF4-FFF2-40B4-BE49-F238E27FC236}">
                <a16:creationId xmlns:a16="http://schemas.microsoft.com/office/drawing/2014/main" id="{D44D92D2-8B64-0582-1ACE-4AB59A0FC970}"/>
              </a:ext>
            </a:extLst>
          </p:cNvPr>
          <p:cNvSpPr txBox="1"/>
          <p:nvPr/>
        </p:nvSpPr>
        <p:spPr>
          <a:xfrm>
            <a:off x="1130711" y="2346854"/>
            <a:ext cx="9183328" cy="2585323"/>
          </a:xfrm>
          <a:prstGeom prst="rect">
            <a:avLst/>
          </a:prstGeom>
          <a:noFill/>
        </p:spPr>
        <p:txBody>
          <a:bodyPr wrap="square">
            <a:spAutoFit/>
          </a:bodyPr>
          <a:lstStyle/>
          <a:p>
            <a:pPr marL="0" indent="0">
              <a:buNone/>
            </a:pPr>
            <a:r>
              <a:rPr lang="en-US" sz="1800" dirty="0">
                <a:solidFill>
                  <a:schemeClr val="tx2"/>
                </a:solidFill>
              </a:rPr>
              <a:t>E-Commerce Order Management System shows that an organized order management system is essential for handling customer orders efficiently and accurately. The system helps manage important activities such as customer details, product information, order placement, payment, delivery, and order tracking. By using a well-designed database and proper relationships between entities, data redundancy can be reduced and information can be accessed easily. Overall, the proposed system improves order processing, reduces manual work, enhances data accuracy, and provides better service to customers. It can also be further enhanced with features such as real-time order tracking, automated notifications, secure online payments, and analytics.</a:t>
            </a:r>
            <a:endParaRPr lang="en-IN" sz="1800" dirty="0">
              <a:solidFill>
                <a:schemeClr val="tx2"/>
              </a:solidFill>
            </a:endParaRPr>
          </a:p>
        </p:txBody>
      </p:sp>
    </p:spTree>
    <p:extLst>
      <p:ext uri="{BB962C8B-B14F-4D97-AF65-F5344CB8AC3E}">
        <p14:creationId xmlns:p14="http://schemas.microsoft.com/office/powerpoint/2010/main" val="3136053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71515-A484-CA1E-2A41-5A49E1B24467}"/>
              </a:ext>
            </a:extLst>
          </p:cNvPr>
          <p:cNvSpPr>
            <a:spLocks noGrp="1"/>
          </p:cNvSpPr>
          <p:nvPr>
            <p:ph type="title"/>
          </p:nvPr>
        </p:nvSpPr>
        <p:spPr>
          <a:xfrm>
            <a:off x="2699569" y="2932471"/>
            <a:ext cx="6792861" cy="993058"/>
          </a:xfrm>
        </p:spPr>
        <p:txBody>
          <a:bodyPr>
            <a:noAutofit/>
          </a:bodyPr>
          <a:lstStyle/>
          <a:p>
            <a:r>
              <a:rPr lang="en-IN" sz="9600">
                <a:solidFill>
                  <a:schemeClr val="tx2"/>
                </a:solidFill>
                <a:latin typeface="Algerian" panose="04020705040A02060702" pitchFamily="82" charset="0"/>
              </a:rPr>
              <a:t>Thank You</a:t>
            </a:r>
          </a:p>
        </p:txBody>
      </p:sp>
      <p:pic>
        <p:nvPicPr>
          <p:cNvPr id="4" name="Content Placeholder 4">
            <a:extLst>
              <a:ext uri="{FF2B5EF4-FFF2-40B4-BE49-F238E27FC236}">
                <a16:creationId xmlns:a16="http://schemas.microsoft.com/office/drawing/2014/main" id="{A5B6A2EB-91A4-D910-F276-2186B2BF3F0F}"/>
              </a:ext>
            </a:extLst>
          </p:cNvPr>
          <p:cNvPicPr>
            <a:picLocks noGrp="1" noChangeAspect="1"/>
          </p:cNvPicPr>
          <p:nvPr>
            <p:ph idx="1"/>
          </p:nvPr>
        </p:nvPicPr>
        <p:blipFill>
          <a:blip r:embed="rId2"/>
          <a:stretch>
            <a:fillRect/>
          </a:stretch>
        </p:blipFill>
        <p:spPr>
          <a:xfrm>
            <a:off x="140024" y="82860"/>
            <a:ext cx="1981372" cy="777307"/>
          </a:xfrm>
          <a:prstGeom prst="rect">
            <a:avLst/>
          </a:prstGeom>
        </p:spPr>
      </p:pic>
    </p:spTree>
    <p:extLst>
      <p:ext uri="{BB962C8B-B14F-4D97-AF65-F5344CB8AC3E}">
        <p14:creationId xmlns:p14="http://schemas.microsoft.com/office/powerpoint/2010/main" val="2266474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TotalTime>
  <Words>2689</Words>
  <Application>Microsoft Office PowerPoint</Application>
  <PresentationFormat>Widescreen</PresentationFormat>
  <Paragraphs>468</Paragraphs>
  <Slides>37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Algerian</vt:lpstr>
      <vt:lpstr>Aptos</vt:lpstr>
      <vt:lpstr>Aptos Display</vt:lpstr>
      <vt:lpstr>Arial</vt:lpstr>
      <vt:lpstr>Times New Roman</vt:lpstr>
      <vt:lpstr>Office Theme</vt:lpstr>
      <vt:lpstr>E-commerce order management system</vt:lpstr>
      <vt:lpstr>Introduction</vt:lpstr>
      <vt:lpstr>Problem statement</vt:lpstr>
      <vt:lpstr>Objectives </vt:lpstr>
      <vt:lpstr>Functional Requirements</vt:lpstr>
      <vt:lpstr> Non-Functional Requirements</vt:lpstr>
      <vt:lpstr> Attributes and Entities </vt:lpstr>
      <vt:lpstr>End Users of the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lavanya koka</dc:creator>
  <cp:lastModifiedBy>lavanya koka</cp:lastModifiedBy>
  <cp:revision>8</cp:revision>
  <dcterms:created xsi:type="dcterms:W3CDTF">2026-08-11T13:45:44Z</dcterms:created>
  <dcterms:modified xsi:type="dcterms:W3CDTF">2026-10-06T09:49:51Z</dcterms:modified>
</cp:coreProperties>
</file>